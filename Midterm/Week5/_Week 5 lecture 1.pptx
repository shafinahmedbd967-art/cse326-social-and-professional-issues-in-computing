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Robo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20" roundtripDataSignature="AMtx7mix3DiYB3RexXhcRlICYIB2hHRqV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Syada Tasmia Alv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slideMaster" Target="slideMasters/slideMaster1.xml"/><Relationship Id="rId19" Type="http://schemas.openxmlformats.org/officeDocument/2006/relationships/font" Target="fonts/Roboto-boldItalic.fntdata"/><Relationship Id="rId6" Type="http://schemas.openxmlformats.org/officeDocument/2006/relationships/notesMaster" Target="notesMasters/notesMaster1.xml"/><Relationship Id="rId18" Type="http://schemas.openxmlformats.org/officeDocument/2006/relationships/font" Target="fonts/Roboto-italic.fntdata"/><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2-09-13T14:02:25.623">
    <p:pos x="6000" y="0"/>
    <p:text>The New Hacker’s Dictionary describes a hacker as a person “who enjoys exploring the details of programmable systems and how to stretch their capabilities;</p:text>
    <p:extLst>
      <p:ext uri="{C676402C-5697-4E1C-873F-D02D1690AC5C}">
        <p15:threadingInfo timeZoneBias="0"/>
      </p:ext>
      <p:ext uri="http://customooxmlschemas.google.com/">
        <go:slidesCustomData xmlns:go="http://customooxmlschemas.google.com/" commentPostId="AAAAfxVRlbI"/>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2-09-13T15:16:56.641">
    <p:pos x="6000" y="0"/>
    <p:text>By the 1980s, hacking also included spreading com-
puter viruses, then mostly in software traded on floppy disks. Hacking behavior included
pranks, thefts (of information, software, and sometimes money), and phone phreaking
(manipulating the telephone system). Hackers obtained passwords by sophisticated tech-
niques and by social engineering : fooling people into disclosing them.</p:text>
    <p:extLst>
      <p:ext uri="{C676402C-5697-4E1C-873F-D02D1690AC5C}">
        <p15:threadingInfo timeZoneBias="0"/>
      </p:ext>
      <p:ext uri="http://customooxmlschemas.google.com/">
        <go:slidesCustomData xmlns:go="http://customooxmlschemas.google.com/" commentPostId="AAAAfxVRlbQ"/>
      </p:ext>
    </p:extLst>
  </p:cm>
  <p:cm authorId="0" idx="3" dt="2022-09-13T15:09:36.635">
    <p:pos x="6000" y="100"/>
    <p:text>The meaning, and especially the connotations, of the word “hacker” changed as more people began using computers and more people began abusing them.</p:text>
    <p:extLst>
      <p:ext uri="{C676402C-5697-4E1C-873F-D02D1690AC5C}">
        <p15:threadingInfo timeZoneBias="0"/>
      </p:ext>
      <p:ext uri="http://customooxmlschemas.google.com/">
        <go:slidesCustomData xmlns:go="http://customooxmlschemas.google.com/" commentPostId="AAAAfxVRlbM"/>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2-09-14T01:39:33.574">
    <p:pos x="6000" y="0"/>
    <p:text>The kind of accessible information expanded to include credit reports, consumer profiles, medical records, tax records, confidential business information, and other types of information</p:text>
    <p:extLst>
      <p:ext uri="{C676402C-5697-4E1C-873F-D02D1690AC5C}">
        <p15:threadingInfo timeZoneBias="0"/>
      </p:ext>
      <p:ext uri="http://customooxmlschemas.google.com/">
        <go:slidesCustomData xmlns:go="http://customooxmlschemas.google.com/" commentPostId="AAAAfkDrBvQ"/>
      </p:ext>
    </p:extLst>
  </p:cm>
  <p:cm authorId="0" idx="5" dt="2022-09-14T01:28:19.419">
    <p:pos x="6000" y="100"/>
    <p:text>Beginning roughly in the mid-1990s, the intricate interconnectedness of the Web and the
increased use of the Internet for email and other communications, for sensitive information, and for economic transactions made hacking more dangerous and damaging—and
more attractive to criminal gangs.</p:text>
    <p:extLst>
      <p:ext uri="{C676402C-5697-4E1C-873F-D02D1690AC5C}">
        <p15:threadingInfo timeZoneBias="0"/>
      </p:ext>
      <p:ext uri="http://customooxmlschemas.google.com/">
        <go:slidesCustomData xmlns:go="http://customooxmlschemas.google.com/" commentPostId="AAAAfkDrBvM"/>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12cd06712c_0_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g112cd06712c_0_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43fda08588_0_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g143fda08588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fde884e824_0_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gfde884e824_0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44bbcddc71_0_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g144bbcddc71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584ea07bae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g1584ea07ba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44bbcddc71_0_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g144bbcddc71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584ea07bae_0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1584ea07bae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3fbedf9817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g13fbedf9817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9" name="Shape 9"/>
        <p:cNvGrpSpPr/>
        <p:nvPr/>
      </p:nvGrpSpPr>
      <p:grpSpPr>
        <a:xfrm>
          <a:off x="0" y="0"/>
          <a:ext cx="0" cy="0"/>
          <a:chOff x="0" y="0"/>
          <a:chExt cx="0" cy="0"/>
        </a:xfrm>
      </p:grpSpPr>
      <p:sp>
        <p:nvSpPr>
          <p:cNvPr id="10" name="Google Shape;10;p2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 name="Shape 11"/>
        <p:cNvGrpSpPr/>
        <p:nvPr/>
      </p:nvGrpSpPr>
      <p:grpSpPr>
        <a:xfrm>
          <a:off x="0" y="0"/>
          <a:ext cx="0" cy="0"/>
          <a:chOff x="0" y="0"/>
          <a:chExt cx="0" cy="0"/>
        </a:xfrm>
      </p:grpSpPr>
      <p:sp>
        <p:nvSpPr>
          <p:cNvPr id="12" name="Google Shape;12;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 name="Google Shape;1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3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3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26" name="Shape 26"/>
        <p:cNvGrpSpPr/>
        <p:nvPr/>
      </p:nvGrpSpPr>
      <p:grpSpPr>
        <a:xfrm>
          <a:off x="0" y="0"/>
          <a:ext cx="0" cy="0"/>
          <a:chOff x="0" y="0"/>
          <a:chExt cx="0" cy="0"/>
        </a:xfrm>
      </p:grpSpPr>
      <p:sp>
        <p:nvSpPr>
          <p:cNvPr id="27" name="Google Shape;27;g112cd06712c_0_1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 name="Google Shape;28;g112cd06712c_0_1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 name="Google Shape;29;g112cd06712c_0_1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0" name="Google Shape;30;g112cd06712c_0_1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 name="Google Shape;31;g112cd06712c_0_1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7" name="Shape 37"/>
        <p:cNvGrpSpPr/>
        <p:nvPr/>
      </p:nvGrpSpPr>
      <p:grpSpPr>
        <a:xfrm>
          <a:off x="0" y="0"/>
          <a:ext cx="0" cy="0"/>
          <a:chOff x="0" y="0"/>
          <a:chExt cx="0" cy="0"/>
        </a:xfrm>
      </p:grpSpPr>
      <p:sp>
        <p:nvSpPr>
          <p:cNvPr id="38" name="Google Shape;38;gf59b91e696_0_41"/>
          <p:cNvSpPr txBox="1"/>
          <p:nvPr>
            <p:ph type="title"/>
          </p:nvPr>
        </p:nvSpPr>
        <p:spPr>
          <a:xfrm>
            <a:off x="967739" y="-11430"/>
            <a:ext cx="7200900" cy="10698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800"/>
              <a:buNone/>
              <a:defRPr b="0" i="0" sz="4600">
                <a:solidFill>
                  <a:srgbClr val="2B7B9E"/>
                </a:solidFill>
                <a:latin typeface="Calibri"/>
                <a:ea typeface="Calibri"/>
                <a:cs typeface="Calibri"/>
                <a:sym typeface="Calibri"/>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 name="Google Shape;39;gf59b91e696_0_41"/>
          <p:cNvSpPr txBox="1"/>
          <p:nvPr>
            <p:ph idx="1" type="body"/>
          </p:nvPr>
        </p:nvSpPr>
        <p:spPr>
          <a:xfrm>
            <a:off x="628650" y="1038987"/>
            <a:ext cx="5144100" cy="31356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800"/>
              <a:buNone/>
              <a:defRPr b="0" i="0" sz="2400">
                <a:solidFill>
                  <a:srgbClr val="585858"/>
                </a:solidFill>
                <a:latin typeface="Calibri"/>
                <a:ea typeface="Calibri"/>
                <a:cs typeface="Calibri"/>
                <a:sym typeface="Calibri"/>
              </a:defRPr>
            </a:lvl1pPr>
            <a:lvl2pPr indent="-228600" lvl="1" marL="914400" algn="l">
              <a:lnSpc>
                <a:spcPct val="115000"/>
              </a:lnSpc>
              <a:spcBef>
                <a:spcPts val="0"/>
              </a:spcBef>
              <a:spcAft>
                <a:spcPts val="0"/>
              </a:spcAft>
              <a:buSzPts val="1400"/>
              <a:buNone/>
              <a:defRPr/>
            </a:lvl2pPr>
            <a:lvl3pPr indent="-228600" lvl="2" marL="1371600" algn="l">
              <a:lnSpc>
                <a:spcPct val="115000"/>
              </a:lnSpc>
              <a:spcBef>
                <a:spcPts val="0"/>
              </a:spcBef>
              <a:spcAft>
                <a:spcPts val="0"/>
              </a:spcAft>
              <a:buSzPts val="1400"/>
              <a:buNone/>
              <a:defRPr/>
            </a:lvl3pPr>
            <a:lvl4pPr indent="-228600" lvl="3" marL="1828800" algn="l">
              <a:lnSpc>
                <a:spcPct val="115000"/>
              </a:lnSpc>
              <a:spcBef>
                <a:spcPts val="0"/>
              </a:spcBef>
              <a:spcAft>
                <a:spcPts val="0"/>
              </a:spcAft>
              <a:buSzPts val="1400"/>
              <a:buNone/>
              <a:defRPr/>
            </a:lvl4pPr>
            <a:lvl5pPr indent="-228600" lvl="4" marL="2286000" algn="l">
              <a:lnSpc>
                <a:spcPct val="115000"/>
              </a:lnSpc>
              <a:spcBef>
                <a:spcPts val="0"/>
              </a:spcBef>
              <a:spcAft>
                <a:spcPts val="0"/>
              </a:spcAft>
              <a:buSzPts val="1400"/>
              <a:buNone/>
              <a:defRPr/>
            </a:lvl5pPr>
            <a:lvl6pPr indent="-228600" lvl="5" marL="2743200" algn="l">
              <a:lnSpc>
                <a:spcPct val="115000"/>
              </a:lnSpc>
              <a:spcBef>
                <a:spcPts val="0"/>
              </a:spcBef>
              <a:spcAft>
                <a:spcPts val="0"/>
              </a:spcAft>
              <a:buSzPts val="1400"/>
              <a:buNone/>
              <a:defRPr/>
            </a:lvl6pPr>
            <a:lvl7pPr indent="-228600" lvl="6" marL="3200400" algn="l">
              <a:lnSpc>
                <a:spcPct val="115000"/>
              </a:lnSpc>
              <a:spcBef>
                <a:spcPts val="0"/>
              </a:spcBef>
              <a:spcAft>
                <a:spcPts val="0"/>
              </a:spcAft>
              <a:buSzPts val="1400"/>
              <a:buNone/>
              <a:defRPr/>
            </a:lvl7pPr>
            <a:lvl8pPr indent="-228600" lvl="7" marL="3657600" algn="l">
              <a:lnSpc>
                <a:spcPct val="115000"/>
              </a:lnSpc>
              <a:spcBef>
                <a:spcPts val="0"/>
              </a:spcBef>
              <a:spcAft>
                <a:spcPts val="0"/>
              </a:spcAft>
              <a:buSzPts val="1400"/>
              <a:buNone/>
              <a:defRPr/>
            </a:lvl8pPr>
            <a:lvl9pPr indent="-228600" lvl="8" marL="4114800" algn="l">
              <a:lnSpc>
                <a:spcPct val="115000"/>
              </a:lnSpc>
              <a:spcBef>
                <a:spcPts val="0"/>
              </a:spcBef>
              <a:spcAft>
                <a:spcPts val="0"/>
              </a:spcAft>
              <a:buSzPts val="1400"/>
              <a:buNone/>
              <a:defRPr/>
            </a:lvl9pPr>
          </a:lstStyle>
          <a:p/>
        </p:txBody>
      </p:sp>
      <p:sp>
        <p:nvSpPr>
          <p:cNvPr id="40" name="Google Shape;40;gf59b91e696_0_41"/>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1" name="Google Shape;41;gf59b91e696_0_41"/>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 name="Google Shape;42;gf59b91e696_0_41"/>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800">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3" name="Shape 43"/>
        <p:cNvGrpSpPr/>
        <p:nvPr/>
      </p:nvGrpSpPr>
      <p:grpSpPr>
        <a:xfrm>
          <a:off x="0" y="0"/>
          <a:ext cx="0" cy="0"/>
          <a:chOff x="0" y="0"/>
          <a:chExt cx="0" cy="0"/>
        </a:xfrm>
      </p:grpSpPr>
      <p:sp>
        <p:nvSpPr>
          <p:cNvPr id="44" name="Google Shape;44;p3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5" name="Google Shape;45;p3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6" name="Google Shape;4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3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9" name="Google Shape;49;p3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0" name="Google Shape;5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4" name="Google Shape;54;p3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3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6" name="Google Shape;56;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3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9" name="Google Shape;59;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3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2" name="Google Shape;62;p3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3" name="Google Shape;63;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64" name="Shape 64"/>
        <p:cNvGrpSpPr/>
        <p:nvPr/>
      </p:nvGrpSpPr>
      <p:grpSpPr>
        <a:xfrm>
          <a:off x="0" y="0"/>
          <a:ext cx="0" cy="0"/>
          <a:chOff x="0" y="0"/>
          <a:chExt cx="0" cy="0"/>
        </a:xfrm>
      </p:grpSpPr>
      <p:sp>
        <p:nvSpPr>
          <p:cNvPr id="65" name="Google Shape;65;p38"/>
          <p:cNvSpPr/>
          <p:nvPr/>
        </p:nvSpPr>
        <p:spPr>
          <a:xfrm>
            <a:off x="9" y="-962172"/>
            <a:ext cx="9233805" cy="6330149"/>
          </a:xfrm>
          <a:custGeom>
            <a:rect b="b" l="l" r="r" t="t"/>
            <a:pathLst>
              <a:path extrusionOk="0" h="72886" w="106319">
                <a:moveTo>
                  <a:pt x="98047" y="17578"/>
                </a:moveTo>
                <a:cubicBezTo>
                  <a:pt x="90726" y="25294"/>
                  <a:pt x="78229" y="26537"/>
                  <a:pt x="85120" y="17578"/>
                </a:cubicBezTo>
                <a:cubicBezTo>
                  <a:pt x="89094" y="12414"/>
                  <a:pt x="90660" y="5194"/>
                  <a:pt x="91276" y="1"/>
                </a:cubicBezTo>
                <a:lnTo>
                  <a:pt x="0" y="1"/>
                </a:lnTo>
                <a:lnTo>
                  <a:pt x="0" y="64267"/>
                </a:lnTo>
                <a:cubicBezTo>
                  <a:pt x="1853" y="61996"/>
                  <a:pt x="5128" y="58082"/>
                  <a:pt x="7238" y="50485"/>
                </a:cubicBezTo>
                <a:cubicBezTo>
                  <a:pt x="12754" y="30673"/>
                  <a:pt x="28951" y="29985"/>
                  <a:pt x="35083" y="37217"/>
                </a:cubicBezTo>
                <a:cubicBezTo>
                  <a:pt x="41980" y="45357"/>
                  <a:pt x="33105" y="66114"/>
                  <a:pt x="48531" y="72886"/>
                </a:cubicBezTo>
                <a:lnTo>
                  <a:pt x="106319" y="72886"/>
                </a:lnTo>
                <a:lnTo>
                  <a:pt x="106319" y="1"/>
                </a:lnTo>
                <a:lnTo>
                  <a:pt x="105877" y="1"/>
                </a:lnTo>
                <a:cubicBezTo>
                  <a:pt x="105106" y="4399"/>
                  <a:pt x="103086" y="12271"/>
                  <a:pt x="98047" y="17578"/>
                </a:cubicBezTo>
                <a:close/>
              </a:path>
            </a:pathLst>
          </a:custGeom>
          <a:gradFill>
            <a:gsLst>
              <a:gs pos="0">
                <a:srgbClr val="FFFEFE"/>
              </a:gs>
              <a:gs pos="65000">
                <a:srgbClr val="ECECEC"/>
              </a:gs>
              <a:gs pos="100000">
                <a:schemeClr val="accent3"/>
              </a:gs>
            </a:gsLst>
            <a:lin ang="5400700" scaled="0"/>
          </a:gradFill>
          <a:ln>
            <a:noFill/>
          </a:ln>
          <a:effectLst>
            <a:outerShdw blurRad="57150" rotWithShape="0" algn="bl" dist="19050">
              <a:srgbClr val="B7B7B7">
                <a:alpha val="6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6" name="Google Shape;66;p38"/>
          <p:cNvGrpSpPr/>
          <p:nvPr/>
        </p:nvGrpSpPr>
        <p:grpSpPr>
          <a:xfrm>
            <a:off x="3247824" y="-408375"/>
            <a:ext cx="5985963" cy="5776828"/>
            <a:chOff x="2407800" y="3054100"/>
            <a:chExt cx="1723075" cy="1662875"/>
          </a:xfrm>
        </p:grpSpPr>
        <p:sp>
          <p:nvSpPr>
            <p:cNvPr id="67" name="Google Shape;67;p38"/>
            <p:cNvSpPr/>
            <p:nvPr/>
          </p:nvSpPr>
          <p:spPr>
            <a:xfrm>
              <a:off x="2407800" y="3054100"/>
              <a:ext cx="1723075" cy="1662725"/>
            </a:xfrm>
            <a:custGeom>
              <a:rect b="b" l="l" r="r" t="t"/>
              <a:pathLst>
                <a:path extrusionOk="0" h="66509" w="68923">
                  <a:moveTo>
                    <a:pt x="68923" y="1"/>
                  </a:moveTo>
                  <a:cubicBezTo>
                    <a:pt x="68923" y="1"/>
                    <a:pt x="66682" y="14476"/>
                    <a:pt x="52039" y="20507"/>
                  </a:cubicBezTo>
                  <a:cubicBezTo>
                    <a:pt x="37396" y="26537"/>
                    <a:pt x="26877" y="21194"/>
                    <a:pt x="16543" y="24296"/>
                  </a:cubicBezTo>
                  <a:cubicBezTo>
                    <a:pt x="6204" y="27398"/>
                    <a:pt x="0" y="40839"/>
                    <a:pt x="6204" y="52900"/>
                  </a:cubicBezTo>
                  <a:cubicBezTo>
                    <a:pt x="12408" y="64961"/>
                    <a:pt x="24642" y="66509"/>
                    <a:pt x="24642" y="66509"/>
                  </a:cubicBezTo>
                  <a:lnTo>
                    <a:pt x="68923" y="66509"/>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5400000" dist="19050">
                <a:srgbClr val="999999">
                  <a:alpha val="4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8"/>
            <p:cNvSpPr/>
            <p:nvPr/>
          </p:nvSpPr>
          <p:spPr>
            <a:xfrm>
              <a:off x="2584850" y="3364300"/>
              <a:ext cx="1546025" cy="1352675"/>
            </a:xfrm>
            <a:custGeom>
              <a:rect b="b" l="l" r="r" t="t"/>
              <a:pathLst>
                <a:path extrusionOk="0" h="54107" w="61841">
                  <a:moveTo>
                    <a:pt x="61841" y="0"/>
                  </a:moveTo>
                  <a:cubicBezTo>
                    <a:pt x="61841" y="0"/>
                    <a:pt x="58566" y="8439"/>
                    <a:pt x="40815" y="11888"/>
                  </a:cubicBezTo>
                  <a:cubicBezTo>
                    <a:pt x="23070" y="15336"/>
                    <a:pt x="7943" y="12426"/>
                    <a:pt x="4118" y="27050"/>
                  </a:cubicBezTo>
                  <a:cubicBezTo>
                    <a:pt x="0" y="42781"/>
                    <a:pt x="17554" y="54107"/>
                    <a:pt x="17554" y="54107"/>
                  </a:cubicBezTo>
                  <a:lnTo>
                    <a:pt x="61841" y="54107"/>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10800000" dist="19050">
                <a:srgbClr val="B7B7B7">
                  <a:alpha val="4156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8"/>
            <p:cNvSpPr/>
            <p:nvPr/>
          </p:nvSpPr>
          <p:spPr>
            <a:xfrm>
              <a:off x="2799700" y="3644300"/>
              <a:ext cx="1331175" cy="1072525"/>
            </a:xfrm>
            <a:custGeom>
              <a:rect b="b" l="l" r="r" t="t"/>
              <a:pathLst>
                <a:path extrusionOk="0" h="42901" w="53247">
                  <a:moveTo>
                    <a:pt x="53247" y="0"/>
                  </a:moveTo>
                  <a:cubicBezTo>
                    <a:pt x="53247" y="0"/>
                    <a:pt x="49625" y="4363"/>
                    <a:pt x="32568" y="5021"/>
                  </a:cubicBezTo>
                  <a:cubicBezTo>
                    <a:pt x="15510" y="5684"/>
                    <a:pt x="3790" y="6270"/>
                    <a:pt x="1895" y="19502"/>
                  </a:cubicBezTo>
                  <a:cubicBezTo>
                    <a:pt x="1" y="32734"/>
                    <a:pt x="10687" y="42901"/>
                    <a:pt x="10687" y="42901"/>
                  </a:cubicBezTo>
                  <a:lnTo>
                    <a:pt x="53247" y="4290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10800000" dist="19050">
                <a:srgbClr val="B7B7B7">
                  <a:alpha val="4156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8"/>
            <p:cNvSpPr/>
            <p:nvPr/>
          </p:nvSpPr>
          <p:spPr>
            <a:xfrm>
              <a:off x="2799700" y="3644300"/>
              <a:ext cx="1331175" cy="1072525"/>
            </a:xfrm>
            <a:custGeom>
              <a:rect b="b" l="l" r="r" t="t"/>
              <a:pathLst>
                <a:path extrusionOk="0" fill="none" h="42901" w="53247">
                  <a:moveTo>
                    <a:pt x="53247" y="0"/>
                  </a:moveTo>
                  <a:cubicBezTo>
                    <a:pt x="53247" y="0"/>
                    <a:pt x="49625" y="4363"/>
                    <a:pt x="32568" y="5021"/>
                  </a:cubicBezTo>
                  <a:cubicBezTo>
                    <a:pt x="15510" y="5684"/>
                    <a:pt x="3790" y="6270"/>
                    <a:pt x="1895" y="19502"/>
                  </a:cubicBezTo>
                  <a:cubicBezTo>
                    <a:pt x="1" y="32734"/>
                    <a:pt x="10687" y="42901"/>
                    <a:pt x="10687" y="4290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8"/>
            <p:cNvSpPr/>
            <p:nvPr/>
          </p:nvSpPr>
          <p:spPr>
            <a:xfrm>
              <a:off x="2584850" y="3364300"/>
              <a:ext cx="1546025" cy="1352675"/>
            </a:xfrm>
            <a:custGeom>
              <a:rect b="b" l="l" r="r" t="t"/>
              <a:pathLst>
                <a:path extrusionOk="0" fill="none" h="54107" w="61841">
                  <a:moveTo>
                    <a:pt x="61841" y="0"/>
                  </a:moveTo>
                  <a:cubicBezTo>
                    <a:pt x="61841" y="0"/>
                    <a:pt x="58566" y="8439"/>
                    <a:pt x="40815" y="11888"/>
                  </a:cubicBezTo>
                  <a:cubicBezTo>
                    <a:pt x="23070" y="15336"/>
                    <a:pt x="7943" y="12426"/>
                    <a:pt x="4118" y="27050"/>
                  </a:cubicBezTo>
                  <a:cubicBezTo>
                    <a:pt x="0" y="42781"/>
                    <a:pt x="17554" y="54107"/>
                    <a:pt x="17554" y="54107"/>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8"/>
            <p:cNvSpPr/>
            <p:nvPr/>
          </p:nvSpPr>
          <p:spPr>
            <a:xfrm>
              <a:off x="2407800" y="3054100"/>
              <a:ext cx="1723075" cy="1662725"/>
            </a:xfrm>
            <a:custGeom>
              <a:rect b="b" l="l" r="r" t="t"/>
              <a:pathLst>
                <a:path extrusionOk="0" fill="none" h="66509" w="68923">
                  <a:moveTo>
                    <a:pt x="68923" y="1"/>
                  </a:moveTo>
                  <a:cubicBezTo>
                    <a:pt x="68923" y="1"/>
                    <a:pt x="66682" y="14476"/>
                    <a:pt x="52039" y="20507"/>
                  </a:cubicBezTo>
                  <a:cubicBezTo>
                    <a:pt x="37396" y="26537"/>
                    <a:pt x="26877" y="21194"/>
                    <a:pt x="16543" y="24296"/>
                  </a:cubicBezTo>
                  <a:cubicBezTo>
                    <a:pt x="6204" y="27398"/>
                    <a:pt x="0" y="40839"/>
                    <a:pt x="6204" y="52900"/>
                  </a:cubicBezTo>
                  <a:cubicBezTo>
                    <a:pt x="12408" y="64961"/>
                    <a:pt x="24642" y="66509"/>
                    <a:pt x="24642" y="66509"/>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 name="Google Shape;73;p38"/>
          <p:cNvGrpSpPr/>
          <p:nvPr/>
        </p:nvGrpSpPr>
        <p:grpSpPr>
          <a:xfrm>
            <a:off x="-17" y="-962218"/>
            <a:ext cx="7767430" cy="4298033"/>
            <a:chOff x="1472900" y="2894675"/>
            <a:chExt cx="2235875" cy="1237200"/>
          </a:xfrm>
        </p:grpSpPr>
        <p:sp>
          <p:nvSpPr>
            <p:cNvPr id="74" name="Google Shape;74;p38"/>
            <p:cNvSpPr/>
            <p:nvPr/>
          </p:nvSpPr>
          <p:spPr>
            <a:xfrm>
              <a:off x="1472900" y="2894675"/>
              <a:ext cx="2235875" cy="1237200"/>
            </a:xfrm>
            <a:custGeom>
              <a:rect b="b" l="l" r="r" t="t"/>
              <a:pathLst>
                <a:path extrusionOk="0" h="49488" w="89435">
                  <a:moveTo>
                    <a:pt x="0" y="49487"/>
                  </a:moveTo>
                  <a:cubicBezTo>
                    <a:pt x="0" y="49487"/>
                    <a:pt x="4190" y="33691"/>
                    <a:pt x="19992" y="27224"/>
                  </a:cubicBezTo>
                  <a:cubicBezTo>
                    <a:pt x="38944" y="19473"/>
                    <a:pt x="46331" y="28665"/>
                    <a:pt x="65827" y="23608"/>
                  </a:cubicBezTo>
                  <a:cubicBezTo>
                    <a:pt x="85317" y="18546"/>
                    <a:pt x="89435" y="1"/>
                    <a:pt x="89435" y="1"/>
                  </a:cubicBezTo>
                  <a:lnTo>
                    <a:pt x="6"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8820000" dist="19050">
                <a:srgbClr val="B7B7B7">
                  <a:alpha val="4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8"/>
            <p:cNvSpPr/>
            <p:nvPr/>
          </p:nvSpPr>
          <p:spPr>
            <a:xfrm>
              <a:off x="1472900" y="2894675"/>
              <a:ext cx="1990250" cy="1016650"/>
            </a:xfrm>
            <a:custGeom>
              <a:rect b="b" l="l" r="r" t="t"/>
              <a:pathLst>
                <a:path extrusionOk="0" h="40666" w="79610">
                  <a:moveTo>
                    <a:pt x="0" y="40666"/>
                  </a:moveTo>
                  <a:cubicBezTo>
                    <a:pt x="0" y="40666"/>
                    <a:pt x="2743" y="28975"/>
                    <a:pt x="17410" y="23608"/>
                  </a:cubicBezTo>
                  <a:cubicBezTo>
                    <a:pt x="31109" y="18594"/>
                    <a:pt x="41508" y="24887"/>
                    <a:pt x="59342" y="20261"/>
                  </a:cubicBezTo>
                  <a:cubicBezTo>
                    <a:pt x="77177" y="15630"/>
                    <a:pt x="79609" y="1"/>
                    <a:pt x="79609" y="1"/>
                  </a:cubicBezTo>
                  <a:lnTo>
                    <a:pt x="0"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6600000" dist="19050">
                <a:srgbClr val="B7B7B7">
                  <a:alpha val="4313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8"/>
            <p:cNvSpPr/>
            <p:nvPr/>
          </p:nvSpPr>
          <p:spPr>
            <a:xfrm>
              <a:off x="1472900" y="2894675"/>
              <a:ext cx="1754175" cy="766825"/>
            </a:xfrm>
            <a:custGeom>
              <a:rect b="b" l="l" r="r" t="t"/>
              <a:pathLst>
                <a:path extrusionOk="0" h="30673" w="70167">
                  <a:moveTo>
                    <a:pt x="0" y="30673"/>
                  </a:moveTo>
                  <a:cubicBezTo>
                    <a:pt x="0" y="30673"/>
                    <a:pt x="4136" y="22228"/>
                    <a:pt x="16436" y="18953"/>
                  </a:cubicBezTo>
                  <a:cubicBezTo>
                    <a:pt x="28443" y="15761"/>
                    <a:pt x="35352" y="21194"/>
                    <a:pt x="50539" y="17255"/>
                  </a:cubicBezTo>
                  <a:cubicBezTo>
                    <a:pt x="65725" y="13311"/>
                    <a:pt x="70166" y="1"/>
                    <a:pt x="70166" y="1"/>
                  </a:cubicBezTo>
                  <a:lnTo>
                    <a:pt x="0"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2580000" dist="19050">
                <a:srgbClr val="D9D9D9">
                  <a:alpha val="4313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8"/>
            <p:cNvSpPr/>
            <p:nvPr/>
          </p:nvSpPr>
          <p:spPr>
            <a:xfrm>
              <a:off x="1472900" y="2894675"/>
              <a:ext cx="1754175" cy="766825"/>
            </a:xfrm>
            <a:custGeom>
              <a:rect b="b" l="l" r="r" t="t"/>
              <a:pathLst>
                <a:path extrusionOk="0" fill="none" h="30673" w="70167">
                  <a:moveTo>
                    <a:pt x="0" y="30673"/>
                  </a:moveTo>
                  <a:cubicBezTo>
                    <a:pt x="0" y="30673"/>
                    <a:pt x="4136" y="22228"/>
                    <a:pt x="16436" y="18953"/>
                  </a:cubicBezTo>
                  <a:cubicBezTo>
                    <a:pt x="28443" y="15761"/>
                    <a:pt x="35352" y="21194"/>
                    <a:pt x="50539" y="17255"/>
                  </a:cubicBezTo>
                  <a:cubicBezTo>
                    <a:pt x="65725" y="13311"/>
                    <a:pt x="70166" y="1"/>
                    <a:pt x="70166"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8"/>
            <p:cNvSpPr/>
            <p:nvPr/>
          </p:nvSpPr>
          <p:spPr>
            <a:xfrm>
              <a:off x="1472900" y="2894675"/>
              <a:ext cx="1990250" cy="1016650"/>
            </a:xfrm>
            <a:custGeom>
              <a:rect b="b" l="l" r="r" t="t"/>
              <a:pathLst>
                <a:path extrusionOk="0" fill="none" h="40666" w="79610">
                  <a:moveTo>
                    <a:pt x="0" y="40666"/>
                  </a:moveTo>
                  <a:cubicBezTo>
                    <a:pt x="0" y="40666"/>
                    <a:pt x="2743" y="28975"/>
                    <a:pt x="17410" y="23608"/>
                  </a:cubicBezTo>
                  <a:cubicBezTo>
                    <a:pt x="31109" y="18594"/>
                    <a:pt x="41508" y="24887"/>
                    <a:pt x="59342" y="20261"/>
                  </a:cubicBezTo>
                  <a:cubicBezTo>
                    <a:pt x="77177" y="15630"/>
                    <a:pt x="79609" y="1"/>
                    <a:pt x="79609"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8"/>
            <p:cNvSpPr/>
            <p:nvPr/>
          </p:nvSpPr>
          <p:spPr>
            <a:xfrm>
              <a:off x="1472900" y="2894675"/>
              <a:ext cx="2235875" cy="1237200"/>
            </a:xfrm>
            <a:custGeom>
              <a:rect b="b" l="l" r="r" t="t"/>
              <a:pathLst>
                <a:path extrusionOk="0" fill="none" h="49488" w="89435">
                  <a:moveTo>
                    <a:pt x="0" y="49487"/>
                  </a:moveTo>
                  <a:cubicBezTo>
                    <a:pt x="0" y="49487"/>
                    <a:pt x="4190" y="33691"/>
                    <a:pt x="19992" y="27224"/>
                  </a:cubicBezTo>
                  <a:cubicBezTo>
                    <a:pt x="38944" y="19473"/>
                    <a:pt x="46331" y="28665"/>
                    <a:pt x="65827" y="23608"/>
                  </a:cubicBezTo>
                  <a:cubicBezTo>
                    <a:pt x="85317" y="18546"/>
                    <a:pt x="89435" y="1"/>
                    <a:pt x="89435"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0" name="Google Shape;80;p38"/>
          <p:cNvSpPr/>
          <p:nvPr/>
        </p:nvSpPr>
        <p:spPr>
          <a:xfrm>
            <a:off x="720000" y="995250"/>
            <a:ext cx="3706500" cy="3153000"/>
          </a:xfrm>
          <a:prstGeom prst="roundRect">
            <a:avLst>
              <a:gd fmla="val 8467" name="adj"/>
            </a:avLst>
          </a:prstGeom>
          <a:solidFill>
            <a:schemeClr val="lt2"/>
          </a:solidFill>
          <a:ln>
            <a:noFill/>
          </a:ln>
          <a:effectLst>
            <a:outerShdw blurRad="185738" rotWithShape="0" algn="bl" dir="6120000" dist="66675">
              <a:srgbClr val="999999">
                <a:alpha val="5215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8"/>
          <p:cNvSpPr txBox="1"/>
          <p:nvPr>
            <p:ph type="title"/>
          </p:nvPr>
        </p:nvSpPr>
        <p:spPr>
          <a:xfrm>
            <a:off x="1169275" y="1377288"/>
            <a:ext cx="2808000" cy="465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2" name="Google Shape;82;p38"/>
          <p:cNvSpPr txBox="1"/>
          <p:nvPr>
            <p:ph idx="1" type="subTitle"/>
          </p:nvPr>
        </p:nvSpPr>
        <p:spPr>
          <a:xfrm>
            <a:off x="1169275" y="1948813"/>
            <a:ext cx="2808000" cy="18174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Clr>
                <a:schemeClr val="dk1"/>
              </a:buClr>
              <a:buSzPts val="20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83" name="Google Shape;83;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Subtitle">
  <p:cSld name="Title-Subtitle">
    <p:spTree>
      <p:nvGrpSpPr>
        <p:cNvPr id="84" name="Shape 84"/>
        <p:cNvGrpSpPr/>
        <p:nvPr/>
      </p:nvGrpSpPr>
      <p:grpSpPr>
        <a:xfrm>
          <a:off x="0" y="0"/>
          <a:ext cx="0" cy="0"/>
          <a:chOff x="0" y="0"/>
          <a:chExt cx="0" cy="0"/>
        </a:xfrm>
      </p:grpSpPr>
      <p:sp>
        <p:nvSpPr>
          <p:cNvPr id="85" name="Google Shape;85;p39"/>
          <p:cNvSpPr txBox="1"/>
          <p:nvPr>
            <p:ph idx="1" type="body"/>
          </p:nvPr>
        </p:nvSpPr>
        <p:spPr>
          <a:xfrm>
            <a:off x="387819" y="730530"/>
            <a:ext cx="8368500" cy="173400"/>
          </a:xfrm>
          <a:prstGeom prst="rect">
            <a:avLst/>
          </a:prstGeom>
          <a:noFill/>
          <a:ln>
            <a:noFill/>
          </a:ln>
        </p:spPr>
        <p:txBody>
          <a:bodyPr anchorCtr="0" anchor="ctr" bIns="0" lIns="0" spcFirstLastPara="1" rIns="0" wrap="square" tIns="0">
            <a:normAutofit/>
          </a:bodyPr>
          <a:lstStyle>
            <a:lvl1pPr indent="-228600" lvl="0" marL="457200" marR="0" algn="l">
              <a:lnSpc>
                <a:spcPct val="115000"/>
              </a:lnSpc>
              <a:spcBef>
                <a:spcPts val="220"/>
              </a:spcBef>
              <a:spcAft>
                <a:spcPts val="0"/>
              </a:spcAft>
              <a:buClr>
                <a:srgbClr val="7F7F7F"/>
              </a:buClr>
              <a:buSzPts val="1100"/>
              <a:buFont typeface="Arial"/>
              <a:buNone/>
              <a:defRPr b="0" i="0" sz="1100" u="none" cap="none" strike="noStrike">
                <a:solidFill>
                  <a:srgbClr val="7F7F7F"/>
                </a:solidFill>
                <a:latin typeface="Roboto"/>
                <a:ea typeface="Roboto"/>
                <a:cs typeface="Roboto"/>
                <a:sym typeface="Roboto"/>
              </a:defRPr>
            </a:lvl1pPr>
            <a:lvl2pPr indent="-228600" lvl="1" marL="914400" marR="0" algn="l">
              <a:lnSpc>
                <a:spcPct val="115000"/>
              </a:lnSpc>
              <a:spcBef>
                <a:spcPts val="12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2pPr>
            <a:lvl3pPr indent="-228600" lvl="2" marL="1371600" marR="0" algn="l">
              <a:lnSpc>
                <a:spcPct val="115000"/>
              </a:lnSpc>
              <a:spcBef>
                <a:spcPts val="1200"/>
              </a:spcBef>
              <a:spcAft>
                <a:spcPts val="0"/>
              </a:spcAft>
              <a:buClr>
                <a:schemeClr val="dk1"/>
              </a:buClr>
              <a:buSzPts val="1000"/>
              <a:buFont typeface="Arial"/>
              <a:buNone/>
              <a:defRPr b="0" i="0" sz="1000" u="none" cap="none" strike="noStrike">
                <a:solidFill>
                  <a:schemeClr val="dk1"/>
                </a:solidFill>
                <a:latin typeface="Roboto"/>
                <a:ea typeface="Roboto"/>
                <a:cs typeface="Roboto"/>
                <a:sym typeface="Roboto"/>
              </a:defRPr>
            </a:lvl3pPr>
            <a:lvl4pPr indent="-228600" lvl="3" marL="18288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4pPr>
            <a:lvl5pPr indent="-228600" lvl="4" marL="22860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5pPr>
            <a:lvl6pPr indent="-228600" lvl="5" marL="27432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6pPr>
            <a:lvl7pPr indent="-228600" lvl="6" marL="32004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7pPr>
            <a:lvl8pPr indent="-228600" lvl="7" marL="36576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8pPr>
            <a:lvl9pPr indent="-228600" lvl="8" marL="4114800" marR="0" algn="l">
              <a:lnSpc>
                <a:spcPct val="115000"/>
              </a:lnSpc>
              <a:spcBef>
                <a:spcPts val="1200"/>
              </a:spcBef>
              <a:spcAft>
                <a:spcPts val="1200"/>
              </a:spcAft>
              <a:buClr>
                <a:schemeClr val="dk1"/>
              </a:buClr>
              <a:buSzPts val="900"/>
              <a:buFont typeface="Arial"/>
              <a:buNone/>
              <a:defRPr b="0" i="0" sz="900" u="none" cap="none" strike="noStrike">
                <a:solidFill>
                  <a:schemeClr val="dk1"/>
                </a:solidFill>
                <a:latin typeface="Roboto"/>
                <a:ea typeface="Roboto"/>
                <a:cs typeface="Roboto"/>
                <a:sym typeface="Roboto"/>
              </a:defRPr>
            </a:lvl9pPr>
          </a:lstStyle>
          <a:p/>
        </p:txBody>
      </p:sp>
      <p:sp>
        <p:nvSpPr>
          <p:cNvPr id="86" name="Google Shape;86;p39"/>
          <p:cNvSpPr txBox="1"/>
          <p:nvPr>
            <p:ph type="title"/>
          </p:nvPr>
        </p:nvSpPr>
        <p:spPr>
          <a:xfrm>
            <a:off x="387819" y="282611"/>
            <a:ext cx="8368500" cy="409500"/>
          </a:xfrm>
          <a:prstGeom prst="rect">
            <a:avLst/>
          </a:prstGeom>
          <a:noFill/>
          <a:ln>
            <a:noFill/>
          </a:ln>
        </p:spPr>
        <p:txBody>
          <a:bodyPr anchorCtr="0" anchor="ctr" bIns="0" lIns="0" spcFirstLastPara="1" rIns="0" wrap="square" tIns="0">
            <a:normAutofit/>
          </a:bodyPr>
          <a:lstStyle>
            <a:lvl1pPr lvl="0" marR="0" algn="l">
              <a:lnSpc>
                <a:spcPct val="100000"/>
              </a:lnSpc>
              <a:spcBef>
                <a:spcPts val="0"/>
              </a:spcBef>
              <a:spcAft>
                <a:spcPts val="0"/>
              </a:spcAft>
              <a:buClr>
                <a:srgbClr val="5B5B5B"/>
              </a:buClr>
              <a:buSzPts val="2800"/>
              <a:buFont typeface="Roboto"/>
              <a:buNone/>
              <a:defRPr b="0" i="0" sz="2800" u="none" cap="none" strike="noStrike">
                <a:solidFill>
                  <a:srgbClr val="5B5B5B"/>
                </a:solidFill>
                <a:latin typeface="Roboto"/>
                <a:ea typeface="Roboto"/>
                <a:cs typeface="Roboto"/>
                <a:sym typeface="Roboto"/>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87" name="Google Shape;87;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88" name="Shape 88"/>
        <p:cNvGrpSpPr/>
        <p:nvPr/>
      </p:nvGrpSpPr>
      <p:grpSpPr>
        <a:xfrm>
          <a:off x="0" y="0"/>
          <a:ext cx="0" cy="0"/>
          <a:chOff x="0" y="0"/>
          <a:chExt cx="0" cy="0"/>
        </a:xfrm>
      </p:grpSpPr>
      <p:pic>
        <p:nvPicPr>
          <p:cNvPr descr="0001.png" id="89" name="Google Shape;89;p40"/>
          <p:cNvPicPr preferRelativeResize="0"/>
          <p:nvPr/>
        </p:nvPicPr>
        <p:blipFill rotWithShape="1">
          <a:blip r:embed="rId2">
            <a:alphaModFix/>
          </a:blip>
          <a:srcRect b="0" l="0" r="0" t="0"/>
          <a:stretch/>
        </p:blipFill>
        <p:spPr>
          <a:xfrm>
            <a:off x="0" y="-1"/>
            <a:ext cx="9144003" cy="5143502"/>
          </a:xfrm>
          <a:prstGeom prst="rect">
            <a:avLst/>
          </a:prstGeom>
          <a:noFill/>
          <a:ln>
            <a:noFill/>
          </a:ln>
        </p:spPr>
      </p:pic>
      <p:pic>
        <p:nvPicPr>
          <p:cNvPr descr="0002.png" id="90" name="Google Shape;90;p40"/>
          <p:cNvPicPr preferRelativeResize="0"/>
          <p:nvPr/>
        </p:nvPicPr>
        <p:blipFill rotWithShape="1">
          <a:blip r:embed="rId3">
            <a:alphaModFix/>
          </a:blip>
          <a:srcRect b="5453" l="0" r="31877" t="73562"/>
          <a:stretch/>
        </p:blipFill>
        <p:spPr>
          <a:xfrm>
            <a:off x="0" y="3783725"/>
            <a:ext cx="6228185" cy="1079222"/>
          </a:xfrm>
          <a:prstGeom prst="rect">
            <a:avLst/>
          </a:prstGeom>
          <a:noFill/>
          <a:ln>
            <a:noFill/>
          </a:ln>
        </p:spPr>
      </p:pic>
      <p:pic>
        <p:nvPicPr>
          <p:cNvPr descr="0002.png" id="91" name="Google Shape;91;p40"/>
          <p:cNvPicPr preferRelativeResize="0"/>
          <p:nvPr/>
        </p:nvPicPr>
        <p:blipFill rotWithShape="1">
          <a:blip r:embed="rId3">
            <a:alphaModFix/>
          </a:blip>
          <a:srcRect b="5455" l="68112" r="0" t="0"/>
          <a:stretch/>
        </p:blipFill>
        <p:spPr>
          <a:xfrm>
            <a:off x="6228184" y="0"/>
            <a:ext cx="2915815" cy="486294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omments" Target="../comments/commen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omments" Target="../comments/commen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p:nvPr/>
        </p:nvSpPr>
        <p:spPr>
          <a:xfrm>
            <a:off x="0" y="140500"/>
            <a:ext cx="9204000" cy="46302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97" name="Google Shape;97;p1"/>
          <p:cNvSpPr txBox="1"/>
          <p:nvPr/>
        </p:nvSpPr>
        <p:spPr>
          <a:xfrm>
            <a:off x="535776" y="582375"/>
            <a:ext cx="8222400" cy="1046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3200"/>
              <a:buFont typeface="Roboto"/>
              <a:buNone/>
            </a:pPr>
            <a:r>
              <a:t/>
            </a:r>
            <a:endParaRPr b="1" i="0" sz="32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    </a:t>
            </a:r>
            <a:endParaRPr b="1" i="0" sz="32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 </a:t>
            </a:r>
            <a:r>
              <a:rPr b="1" i="0" lang="en" sz="2600" u="none" cap="none" strike="noStrike">
                <a:solidFill>
                  <a:schemeClr val="lt1"/>
                </a:solidFill>
                <a:latin typeface="Roboto"/>
                <a:ea typeface="Roboto"/>
                <a:cs typeface="Roboto"/>
                <a:sym typeface="Roboto"/>
              </a:rPr>
              <a:t>A GIFT OF FIRE THIRD EDITION - SARA BAASE</a:t>
            </a:r>
            <a:endParaRPr b="1" i="0" sz="26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rPr b="1" i="0" lang="en" sz="2600" u="none" cap="none" strike="noStrike">
                <a:solidFill>
                  <a:schemeClr val="lt1"/>
                </a:solidFill>
                <a:latin typeface="Roboto"/>
                <a:ea typeface="Roboto"/>
                <a:cs typeface="Roboto"/>
                <a:sym typeface="Roboto"/>
              </a:rPr>
              <a:t>CHAPTER 2: </a:t>
            </a:r>
            <a:r>
              <a:rPr b="1" lang="en" sz="2600">
                <a:solidFill>
                  <a:schemeClr val="lt1"/>
                </a:solidFill>
                <a:latin typeface="Roboto"/>
                <a:ea typeface="Roboto"/>
                <a:cs typeface="Roboto"/>
                <a:sym typeface="Roboto"/>
              </a:rPr>
              <a:t>Computer Crime</a:t>
            </a:r>
            <a:endParaRPr b="1" sz="2600">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t/>
            </a:r>
            <a:endParaRPr b="1" sz="2600">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Lecture 1</a:t>
            </a:r>
            <a:endParaRPr b="1" i="0" sz="32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t/>
            </a:r>
            <a:endParaRPr b="1" i="0" sz="3200" u="none" cap="none" strike="noStrike">
              <a:solidFill>
                <a:schemeClr val="lt1"/>
              </a:solidFill>
              <a:latin typeface="Roboto"/>
              <a:ea typeface="Roboto"/>
              <a:cs typeface="Roboto"/>
              <a:sym typeface="Roboto"/>
            </a:endParaRPr>
          </a:p>
        </p:txBody>
      </p:sp>
      <p:sp>
        <p:nvSpPr>
          <p:cNvPr id="98" name="Google Shape;98;p1"/>
          <p:cNvSpPr txBox="1"/>
          <p:nvPr/>
        </p:nvSpPr>
        <p:spPr>
          <a:xfrm>
            <a:off x="2584725" y="3146550"/>
            <a:ext cx="4143900" cy="1548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600"/>
              </a:spcBef>
              <a:spcAft>
                <a:spcPts val="0"/>
              </a:spcAft>
              <a:buClr>
                <a:schemeClr val="lt1"/>
              </a:buClr>
              <a:buSzPts val="1600"/>
              <a:buFont typeface="Noto Sans Symbols"/>
              <a:buNone/>
            </a:pPr>
            <a:r>
              <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Syada Tasmia Alvi</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Lecturer, Dept.of CSE</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Daffodil International University</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t/>
            </a:r>
            <a:endParaRPr b="0" i="0" sz="1400" u="none" cap="none" strike="noStrike">
              <a:solidFill>
                <a:srgbClr val="000000"/>
              </a:solidFill>
              <a:latin typeface="Arial"/>
              <a:ea typeface="Arial"/>
              <a:cs typeface="Arial"/>
              <a:sym typeface="Arial"/>
            </a:endParaRPr>
          </a:p>
        </p:txBody>
      </p:sp>
      <p:sp>
        <p:nvSpPr>
          <p:cNvPr id="99" name="Google Shape;99;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97"/>
                                        </p:tgtEl>
                                        <p:attrNameLst>
                                          <p:attrName>style.visibility</p:attrName>
                                        </p:attrNameLst>
                                      </p:cBhvr>
                                      <p:to>
                                        <p:strVal val="visible"/>
                                      </p:to>
                                    </p:set>
                                    <p:anim calcmode="lin" valueType="num">
                                      <p:cBhvr additive="base">
                                        <p:cTn dur="500"/>
                                        <p:tgtEl>
                                          <p:spTgt spid="97"/>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50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112cd06712c_0_185"/>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Challenges wrt Computer Crime</a:t>
            </a:r>
            <a:endParaRPr b="1">
              <a:solidFill>
                <a:schemeClr val="lt1"/>
              </a:solidFill>
              <a:latin typeface="Malgun Gothic"/>
              <a:ea typeface="Malgun Gothic"/>
              <a:cs typeface="Malgun Gothic"/>
              <a:sym typeface="Malgun Gothic"/>
            </a:endParaRPr>
          </a:p>
        </p:txBody>
      </p:sp>
      <p:sp>
        <p:nvSpPr>
          <p:cNvPr id="105" name="Google Shape;105;g112cd06712c_0_185"/>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6" name="Google Shape;106;g112cd06712c_0_185"/>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g112cd06712c_0_185"/>
          <p:cNvSpPr txBox="1"/>
          <p:nvPr/>
        </p:nvSpPr>
        <p:spPr>
          <a:xfrm>
            <a:off x="622025" y="1033825"/>
            <a:ext cx="7776300" cy="23037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1000"/>
              </a:spcBef>
              <a:spcAft>
                <a:spcPts val="0"/>
              </a:spcAft>
              <a:buSzPts val="1600"/>
              <a:buChar char="❏"/>
            </a:pPr>
            <a:r>
              <a:rPr lang="en" sz="1600"/>
              <a:t>There are at least three:</a:t>
            </a:r>
            <a:endParaRPr sz="1600"/>
          </a:p>
          <a:p>
            <a:pPr indent="-330200" lvl="0" marL="457200" marR="0" rtl="0" algn="l">
              <a:lnSpc>
                <a:spcPct val="100000"/>
              </a:lnSpc>
              <a:spcBef>
                <a:spcPts val="1000"/>
              </a:spcBef>
              <a:spcAft>
                <a:spcPts val="0"/>
              </a:spcAft>
              <a:buSzPts val="1600"/>
              <a:buChar char="❏"/>
            </a:pPr>
            <a:r>
              <a:rPr lang="en" sz="1600"/>
              <a:t>Prevention</a:t>
            </a:r>
            <a:endParaRPr sz="1600"/>
          </a:p>
          <a:p>
            <a:pPr indent="-330200" lvl="0" marL="457200" marR="0" rtl="0" algn="l">
              <a:lnSpc>
                <a:spcPct val="100000"/>
              </a:lnSpc>
              <a:spcBef>
                <a:spcPts val="1000"/>
              </a:spcBef>
              <a:spcAft>
                <a:spcPts val="0"/>
              </a:spcAft>
              <a:buSzPts val="1600"/>
              <a:buChar char="❏"/>
            </a:pPr>
            <a:r>
              <a:rPr lang="en" sz="1600"/>
              <a:t> Detection</a:t>
            </a:r>
            <a:endParaRPr sz="1600"/>
          </a:p>
          <a:p>
            <a:pPr indent="-330200" lvl="0" marL="457200" marR="0" rtl="0" algn="l">
              <a:lnSpc>
                <a:spcPct val="100000"/>
              </a:lnSpc>
              <a:spcBef>
                <a:spcPts val="1000"/>
              </a:spcBef>
              <a:spcAft>
                <a:spcPts val="0"/>
              </a:spcAft>
              <a:buSzPts val="1600"/>
              <a:buChar char="❏"/>
            </a:pPr>
            <a:r>
              <a:rPr lang="en" sz="1600"/>
              <a:t>Prosecution</a:t>
            </a:r>
            <a:endParaRPr sz="1600"/>
          </a:p>
          <a:p>
            <a:pPr indent="0" lvl="0" marL="457200" marR="0" rtl="0" algn="l">
              <a:lnSpc>
                <a:spcPct val="100000"/>
              </a:lnSpc>
              <a:spcBef>
                <a:spcPts val="1000"/>
              </a:spcBef>
              <a:spcAft>
                <a:spcPts val="0"/>
              </a:spcAft>
              <a:buNone/>
            </a:pPr>
            <a:r>
              <a:t/>
            </a:r>
            <a:endParaRPr sz="1600"/>
          </a:p>
          <a:p>
            <a:pPr indent="0" lvl="0" marL="45720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143fda08588_0_5"/>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Defining “Hacking”: Phase one</a:t>
            </a:r>
            <a:endParaRPr b="1">
              <a:solidFill>
                <a:schemeClr val="lt1"/>
              </a:solidFill>
              <a:latin typeface="Malgun Gothic"/>
              <a:ea typeface="Malgun Gothic"/>
              <a:cs typeface="Malgun Gothic"/>
              <a:sym typeface="Malgun Gothic"/>
            </a:endParaRPr>
          </a:p>
        </p:txBody>
      </p:sp>
      <p:sp>
        <p:nvSpPr>
          <p:cNvPr id="113" name="Google Shape;113;g143fda08588_0_5"/>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14" name="Google Shape;114;g143fda08588_0_5"/>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g143fda08588_0_5"/>
          <p:cNvSpPr txBox="1"/>
          <p:nvPr/>
        </p:nvSpPr>
        <p:spPr>
          <a:xfrm>
            <a:off x="622025" y="1033825"/>
            <a:ext cx="7776300" cy="192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1600"/>
              <a:buFont typeface="Arial"/>
              <a:buNone/>
            </a:pPr>
            <a:r>
              <a:rPr lang="en" sz="1600"/>
              <a:t>Phase 1: Joy of Programming</a:t>
            </a:r>
            <a:endParaRPr b="0" i="0" sz="1600" u="none" cap="none" strike="noStrike">
              <a:solidFill>
                <a:srgbClr val="000000"/>
              </a:solidFill>
              <a:latin typeface="Arial"/>
              <a:ea typeface="Arial"/>
              <a:cs typeface="Arial"/>
              <a:sym typeface="Arial"/>
            </a:endParaRPr>
          </a:p>
          <a:p>
            <a:pPr indent="-330200" lvl="0" marL="457200" marR="0" rtl="0" algn="l">
              <a:lnSpc>
                <a:spcPct val="100000"/>
              </a:lnSpc>
              <a:spcBef>
                <a:spcPts val="1000"/>
              </a:spcBef>
              <a:spcAft>
                <a:spcPts val="0"/>
              </a:spcAft>
              <a:buClr>
                <a:srgbClr val="000000"/>
              </a:buClr>
              <a:buSzPts val="1600"/>
              <a:buFont typeface="Arial"/>
              <a:buChar char="❏"/>
            </a:pPr>
            <a:r>
              <a:rPr lang="en" sz="1600"/>
              <a:t>The early years (1960s and 1970s), when hacking was a positive term</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Hacker was a creative programmer who wrote clever code.</a:t>
            </a:r>
            <a:endParaRPr sz="1600"/>
          </a:p>
          <a:p>
            <a:pPr indent="-330200" lvl="0" marL="457200" rtl="0" algn="l">
              <a:spcBef>
                <a:spcPts val="1000"/>
              </a:spcBef>
              <a:spcAft>
                <a:spcPts val="0"/>
              </a:spcAft>
              <a:buClr>
                <a:schemeClr val="dk1"/>
              </a:buClr>
              <a:buSzPts val="1600"/>
              <a:buChar char="❏"/>
            </a:pPr>
            <a:r>
              <a:rPr lang="en" sz="1600">
                <a:solidFill>
                  <a:schemeClr val="dk1"/>
                </a:solidFill>
              </a:rPr>
              <a:t>First OSes and computer games were written by such hackers.</a:t>
            </a:r>
            <a:r>
              <a:rPr b="0" i="0" lang="en" sz="1600" u="none" cap="none" strike="noStrike">
                <a:solidFill>
                  <a:srgbClr val="000000"/>
                </a:solidFill>
                <a:latin typeface="Arial"/>
                <a:ea typeface="Arial"/>
                <a:cs typeface="Arial"/>
                <a:sym typeface="Arial"/>
              </a:rPr>
              <a:t> </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Hackers were usually – but not always – high-school and college students.</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fde884e824_0_96"/>
          <p:cNvSpPr txBox="1"/>
          <p:nvPr>
            <p:ph type="title"/>
          </p:nvPr>
        </p:nvSpPr>
        <p:spPr>
          <a:xfrm>
            <a:off x="311700" y="62600"/>
            <a:ext cx="769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Phase 2: From the 1970s to the mid-1990s</a:t>
            </a:r>
            <a:endParaRPr b="1">
              <a:solidFill>
                <a:schemeClr val="lt1"/>
              </a:solidFill>
              <a:latin typeface="Malgun Gothic"/>
              <a:ea typeface="Malgun Gothic"/>
              <a:cs typeface="Malgun Gothic"/>
              <a:sym typeface="Malgun Gothic"/>
            </a:endParaRPr>
          </a:p>
        </p:txBody>
      </p:sp>
      <p:sp>
        <p:nvSpPr>
          <p:cNvPr id="121" name="Google Shape;121;gfde884e824_0_96"/>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22" name="Google Shape;122;gfde884e824_0_96"/>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gfde884e824_0_96"/>
          <p:cNvSpPr txBox="1"/>
          <p:nvPr/>
        </p:nvSpPr>
        <p:spPr>
          <a:xfrm>
            <a:off x="622025" y="1033825"/>
            <a:ext cx="7776300" cy="3299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1000"/>
              </a:spcBef>
              <a:spcAft>
                <a:spcPts val="0"/>
              </a:spcAft>
              <a:buSzPts val="1600"/>
              <a:buChar char="❏"/>
            </a:pPr>
            <a:r>
              <a:rPr lang="en" sz="1600"/>
              <a:t>Negative overtones appear in 1970s-90s</a:t>
            </a:r>
            <a:endParaRPr sz="1600"/>
          </a:p>
          <a:p>
            <a:pPr indent="-330200" lvl="0" marL="457200" marR="0" rtl="0" algn="l">
              <a:lnSpc>
                <a:spcPct val="100000"/>
              </a:lnSpc>
              <a:spcBef>
                <a:spcPts val="1000"/>
              </a:spcBef>
              <a:spcAft>
                <a:spcPts val="0"/>
              </a:spcAft>
              <a:buSzPts val="1600"/>
              <a:buChar char="❏"/>
            </a:pPr>
            <a:r>
              <a:rPr lang="en" sz="1600"/>
              <a:t>Popular authors and media caused this use of term:</a:t>
            </a:r>
            <a:endParaRPr sz="1600"/>
          </a:p>
          <a:p>
            <a:pPr indent="-330200" lvl="1" marL="914400" marR="0" rtl="0" algn="l">
              <a:lnSpc>
                <a:spcPct val="100000"/>
              </a:lnSpc>
              <a:spcBef>
                <a:spcPts val="1000"/>
              </a:spcBef>
              <a:spcAft>
                <a:spcPts val="0"/>
              </a:spcAft>
              <a:buSzPts val="1600"/>
              <a:buChar char="○"/>
            </a:pPr>
            <a:r>
              <a:rPr lang="en" sz="1600"/>
              <a:t>Described someone who used computers without authorization.</a:t>
            </a:r>
            <a:endParaRPr sz="1600"/>
          </a:p>
          <a:p>
            <a:pPr indent="-330200" lvl="1" marL="914400" marR="0" rtl="0" algn="l">
              <a:lnSpc>
                <a:spcPct val="100000"/>
              </a:lnSpc>
              <a:spcBef>
                <a:spcPts val="1000"/>
              </a:spcBef>
              <a:spcAft>
                <a:spcPts val="0"/>
              </a:spcAft>
              <a:buSzPts val="1600"/>
              <a:buChar char="○"/>
            </a:pPr>
            <a:r>
              <a:rPr lang="en" sz="1600"/>
              <a:t>Sometimes to commit crimes.</a:t>
            </a:r>
            <a:endParaRPr sz="1600"/>
          </a:p>
          <a:p>
            <a:pPr indent="-330200" lvl="0" marL="457200" marR="0" rtl="0" algn="l">
              <a:lnSpc>
                <a:spcPct val="100000"/>
              </a:lnSpc>
              <a:spcBef>
                <a:spcPts val="1000"/>
              </a:spcBef>
              <a:spcAft>
                <a:spcPts val="0"/>
              </a:spcAft>
              <a:buSzPts val="1600"/>
              <a:buChar char="❏"/>
            </a:pPr>
            <a:r>
              <a:rPr lang="en" sz="1600"/>
              <a:t>Early computer crimes were launched against business and government computers.</a:t>
            </a:r>
            <a:endParaRPr sz="1600"/>
          </a:p>
          <a:p>
            <a:pPr indent="-330200" lvl="0" marL="457200" marR="0" rtl="0" algn="l">
              <a:lnSpc>
                <a:spcPct val="100000"/>
              </a:lnSpc>
              <a:spcBef>
                <a:spcPts val="1000"/>
              </a:spcBef>
              <a:spcAft>
                <a:spcPts val="0"/>
              </a:spcAft>
              <a:buSzPts val="1600"/>
              <a:buChar char="❏"/>
            </a:pPr>
            <a:r>
              <a:rPr lang="en" sz="1600"/>
              <a:t> Adult criminals began using computers</a:t>
            </a:r>
            <a:endParaRPr sz="1600"/>
          </a:p>
          <a:p>
            <a:pPr indent="-330200" lvl="1" marL="914400" marR="0" rtl="0" algn="l">
              <a:lnSpc>
                <a:spcPct val="100000"/>
              </a:lnSpc>
              <a:spcBef>
                <a:spcPts val="1000"/>
              </a:spcBef>
              <a:spcAft>
                <a:spcPts val="0"/>
              </a:spcAft>
              <a:buSzPts val="1600"/>
              <a:buChar char="○"/>
            </a:pPr>
            <a:r>
              <a:rPr lang="en" sz="1600"/>
              <a:t>“White collar” crime</a:t>
            </a:r>
            <a:endParaRPr sz="1600"/>
          </a:p>
          <a:p>
            <a:pPr indent="-330200" lvl="1" marL="914400" marR="0" rtl="0" algn="l">
              <a:lnSpc>
                <a:spcPct val="100000"/>
              </a:lnSpc>
              <a:spcBef>
                <a:spcPts val="1000"/>
              </a:spcBef>
              <a:spcAft>
                <a:spcPts val="0"/>
              </a:spcAft>
              <a:buClr>
                <a:srgbClr val="000000"/>
              </a:buClr>
              <a:buSzPts val="1600"/>
              <a:buFont typeface="Arial"/>
              <a:buChar char="○"/>
            </a:pPr>
            <a:r>
              <a:rPr lang="en" sz="1600"/>
              <a:t>Organized crime increasingly responsible for computer break-ins</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144bbcddc71_0_14"/>
          <p:cNvSpPr txBox="1"/>
          <p:nvPr>
            <p:ph type="title"/>
          </p:nvPr>
        </p:nvSpPr>
        <p:spPr>
          <a:xfrm>
            <a:off x="311700" y="62600"/>
            <a:ext cx="7692900" cy="9543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Phase 3: The growth of the Web and mobile devices</a:t>
            </a:r>
            <a:endParaRPr b="1">
              <a:solidFill>
                <a:schemeClr val="lt1"/>
              </a:solidFill>
              <a:latin typeface="Malgun Gothic"/>
              <a:ea typeface="Malgun Gothic"/>
              <a:cs typeface="Malgun Gothic"/>
              <a:sym typeface="Malgun Gothic"/>
            </a:endParaRPr>
          </a:p>
        </p:txBody>
      </p:sp>
      <p:sp>
        <p:nvSpPr>
          <p:cNvPr id="129" name="Google Shape;129;g144bbcddc71_0_14"/>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30" name="Google Shape;130;g144bbcddc71_0_14"/>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g144bbcddc71_0_14"/>
          <p:cNvSpPr txBox="1"/>
          <p:nvPr/>
        </p:nvSpPr>
        <p:spPr>
          <a:xfrm>
            <a:off x="566275" y="1077975"/>
            <a:ext cx="7776300" cy="2678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1000"/>
              </a:spcBef>
              <a:spcAft>
                <a:spcPts val="0"/>
              </a:spcAft>
              <a:buClr>
                <a:srgbClr val="000000"/>
              </a:buClr>
              <a:buSzPts val="1600"/>
              <a:buFont typeface="Arial"/>
              <a:buChar char="❏"/>
            </a:pPr>
            <a:r>
              <a:rPr b="0" i="0" lang="en" sz="1600" u="none" cap="none" strike="noStrike">
                <a:solidFill>
                  <a:srgbClr val="000000"/>
                </a:solidFill>
                <a:latin typeface="Arial"/>
                <a:ea typeface="Arial"/>
                <a:cs typeface="Arial"/>
                <a:sym typeface="Arial"/>
              </a:rPr>
              <a:t> </a:t>
            </a:r>
            <a:r>
              <a:rPr lang="en" sz="1600"/>
              <a:t>Web era (mid 90s)</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Increased use of Internet by average people</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Attractive to criminals with basic computer skills.</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Crimes included the release of malicious code</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Unprotected computers are especially vulnerable</a:t>
            </a:r>
            <a:endParaRPr sz="1600"/>
          </a:p>
          <a:p>
            <a:pPr indent="-330200" lvl="0" marL="457200" marR="0" rtl="0" algn="l">
              <a:lnSpc>
                <a:spcPct val="100000"/>
              </a:lnSpc>
              <a:spcBef>
                <a:spcPts val="1000"/>
              </a:spcBef>
              <a:spcAft>
                <a:spcPts val="0"/>
              </a:spcAft>
              <a:buSzPts val="1600"/>
              <a:buChar char="❏"/>
            </a:pPr>
            <a:r>
              <a:rPr lang="en" sz="1600"/>
              <a:t>Hacking for political motives increased</a:t>
            </a:r>
            <a:endParaRPr sz="1600"/>
          </a:p>
          <a:p>
            <a:pPr indent="0" lvl="0" marL="457200" marR="0" rtl="0" algn="l">
              <a:lnSpc>
                <a:spcPct val="100000"/>
              </a:lnSpc>
              <a:spcBef>
                <a:spcPts val="1000"/>
              </a:spcBef>
              <a:spcAft>
                <a:spcPts val="0"/>
              </a:spcAft>
              <a:buNone/>
            </a:pPr>
            <a:r>
              <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1584ea07bae_0_0"/>
          <p:cNvSpPr txBox="1"/>
          <p:nvPr>
            <p:ph type="title"/>
          </p:nvPr>
        </p:nvSpPr>
        <p:spPr>
          <a:xfrm>
            <a:off x="311700" y="62600"/>
            <a:ext cx="7692900" cy="9543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Phase 3: The growth of the Web and mobile devices</a:t>
            </a:r>
            <a:endParaRPr b="1">
              <a:solidFill>
                <a:schemeClr val="lt1"/>
              </a:solidFill>
              <a:latin typeface="Malgun Gothic"/>
              <a:ea typeface="Malgun Gothic"/>
              <a:cs typeface="Malgun Gothic"/>
              <a:sym typeface="Malgun Gothic"/>
            </a:endParaRPr>
          </a:p>
        </p:txBody>
      </p:sp>
      <p:sp>
        <p:nvSpPr>
          <p:cNvPr id="137" name="Google Shape;137;g1584ea07bae_0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38" name="Google Shape;138;g1584ea07bae_0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g1584ea07bae_0_0"/>
          <p:cNvSpPr txBox="1"/>
          <p:nvPr/>
        </p:nvSpPr>
        <p:spPr>
          <a:xfrm>
            <a:off x="566275" y="1077975"/>
            <a:ext cx="7776300" cy="267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None/>
            </a:pPr>
            <a:r>
              <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Unsuspecting users may have their computers utilized to take</a:t>
            </a:r>
            <a:endParaRPr sz="1600"/>
          </a:p>
          <a:p>
            <a:pPr indent="0" lvl="0" marL="457200" marR="0" rtl="0" algn="l">
              <a:lnSpc>
                <a:spcPct val="100000"/>
              </a:lnSpc>
              <a:spcBef>
                <a:spcPts val="1000"/>
              </a:spcBef>
              <a:spcAft>
                <a:spcPts val="0"/>
              </a:spcAft>
              <a:buNone/>
            </a:pPr>
            <a:r>
              <a:rPr lang="en" sz="1600"/>
              <a:t>part in a DDoS or fraud</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Minimal computer skills needed to create havoc</a:t>
            </a:r>
            <a:endParaRPr sz="1600"/>
          </a:p>
          <a:p>
            <a:pPr indent="-330200" lvl="1" marL="914400" marR="0" rtl="0" algn="l">
              <a:lnSpc>
                <a:spcPct val="100000"/>
              </a:lnSpc>
              <a:spcBef>
                <a:spcPts val="1000"/>
              </a:spcBef>
              <a:spcAft>
                <a:spcPts val="0"/>
              </a:spcAft>
              <a:buClr>
                <a:srgbClr val="000000"/>
              </a:buClr>
              <a:buSzPts val="1600"/>
              <a:buFont typeface="Arial"/>
              <a:buChar char="○"/>
            </a:pPr>
            <a:r>
              <a:rPr lang="en" sz="1600"/>
              <a:t>“Script kiddies”</a:t>
            </a:r>
            <a:endParaRPr sz="1600"/>
          </a:p>
          <a:p>
            <a:pPr indent="-330200" lvl="2" marL="1371600" marR="0" rtl="0" algn="l">
              <a:lnSpc>
                <a:spcPct val="100000"/>
              </a:lnSpc>
              <a:spcBef>
                <a:spcPts val="1000"/>
              </a:spcBef>
              <a:spcAft>
                <a:spcPts val="0"/>
              </a:spcAft>
              <a:buClr>
                <a:srgbClr val="000000"/>
              </a:buClr>
              <a:buSzPts val="1600"/>
              <a:buFont typeface="Arial"/>
              <a:buChar char="■"/>
            </a:pPr>
            <a:r>
              <a:rPr lang="en" sz="1600"/>
              <a:t>Attackers who use tools / code written by others</a:t>
            </a:r>
            <a:endParaRPr sz="1600"/>
          </a:p>
          <a:p>
            <a:pPr indent="0" lvl="0" marL="457200" marR="0" rtl="0" algn="l">
              <a:lnSpc>
                <a:spcPct val="100000"/>
              </a:lnSpc>
              <a:spcBef>
                <a:spcPts val="1000"/>
              </a:spcBef>
              <a:spcAft>
                <a:spcPts val="0"/>
              </a:spcAft>
              <a:buNone/>
            </a:pPr>
            <a:r>
              <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144bbcddc71_0_21"/>
          <p:cNvSpPr txBox="1"/>
          <p:nvPr>
            <p:ph type="title"/>
          </p:nvPr>
        </p:nvSpPr>
        <p:spPr>
          <a:xfrm>
            <a:off x="311700" y="62600"/>
            <a:ext cx="874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Hacktivism</a:t>
            </a:r>
            <a:endParaRPr b="1">
              <a:solidFill>
                <a:schemeClr val="lt1"/>
              </a:solidFill>
              <a:latin typeface="Malgun Gothic"/>
              <a:ea typeface="Malgun Gothic"/>
              <a:cs typeface="Malgun Gothic"/>
              <a:sym typeface="Malgun Gothic"/>
            </a:endParaRPr>
          </a:p>
        </p:txBody>
      </p:sp>
      <p:sp>
        <p:nvSpPr>
          <p:cNvPr id="145" name="Google Shape;145;g144bbcddc71_0_21"/>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46" name="Google Shape;146;g144bbcddc71_0_21"/>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g144bbcddc71_0_21"/>
          <p:cNvSpPr txBox="1"/>
          <p:nvPr/>
        </p:nvSpPr>
        <p:spPr>
          <a:xfrm>
            <a:off x="622025" y="1033825"/>
            <a:ext cx="7776300" cy="4166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1000"/>
              </a:spcBef>
              <a:spcAft>
                <a:spcPts val="0"/>
              </a:spcAft>
              <a:buClr>
                <a:srgbClr val="000000"/>
              </a:buClr>
              <a:buSzPts val="1600"/>
              <a:buFont typeface="Arial"/>
              <a:buChar char="❏"/>
            </a:pPr>
            <a:r>
              <a:rPr lang="en" sz="1600"/>
              <a:t>Hacktivism is the use of hacking to promote a political cause</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Degree can range from mild to destructive</a:t>
            </a:r>
            <a:endParaRPr sz="1600"/>
          </a:p>
          <a:p>
            <a:pPr indent="-330200" lvl="1" marL="914400" marR="0" rtl="0" algn="l">
              <a:lnSpc>
                <a:spcPct val="100000"/>
              </a:lnSpc>
              <a:spcBef>
                <a:spcPts val="1000"/>
              </a:spcBef>
              <a:spcAft>
                <a:spcPts val="0"/>
              </a:spcAft>
              <a:buClr>
                <a:srgbClr val="000000"/>
              </a:buClr>
              <a:buSzPts val="1600"/>
              <a:buFont typeface="Arial"/>
              <a:buChar char="❏"/>
            </a:pPr>
            <a:r>
              <a:rPr lang="en" sz="1600"/>
              <a:t> Defacing websites</a:t>
            </a:r>
            <a:endParaRPr sz="1600"/>
          </a:p>
          <a:p>
            <a:pPr indent="-330200" lvl="1" marL="914400" marR="0" rtl="0" algn="l">
              <a:lnSpc>
                <a:spcPct val="100000"/>
              </a:lnSpc>
              <a:spcBef>
                <a:spcPts val="1000"/>
              </a:spcBef>
              <a:spcAft>
                <a:spcPts val="0"/>
              </a:spcAft>
              <a:buClr>
                <a:srgbClr val="000000"/>
              </a:buClr>
              <a:buSzPts val="1600"/>
              <a:buFont typeface="Arial"/>
              <a:buChar char="❏"/>
            </a:pPr>
            <a:r>
              <a:rPr lang="en" sz="1600"/>
              <a:t> Destroying data</a:t>
            </a:r>
            <a:endParaRPr sz="1600"/>
          </a:p>
          <a:p>
            <a:pPr indent="-330200" lvl="1" marL="914400" marR="0" rtl="0" algn="l">
              <a:lnSpc>
                <a:spcPct val="100000"/>
              </a:lnSpc>
              <a:spcBef>
                <a:spcPts val="1000"/>
              </a:spcBef>
              <a:spcAft>
                <a:spcPts val="0"/>
              </a:spcAft>
              <a:buClr>
                <a:srgbClr val="000000"/>
              </a:buClr>
              <a:buSzPts val="1600"/>
              <a:buFont typeface="Arial"/>
              <a:buChar char="❏"/>
            </a:pPr>
            <a:r>
              <a:rPr lang="en" sz="1600"/>
              <a:t> Denial of service</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People who agree with the political or social position of the hackers will tend to see an act as “activism,” while those who disagree will tend to see it as ordinary crime (or worse).</a:t>
            </a:r>
            <a:endParaRPr sz="1600"/>
          </a:p>
          <a:p>
            <a:pPr indent="-330200" lvl="0" marL="457200" marR="0" rtl="0" algn="l">
              <a:lnSpc>
                <a:spcPct val="100000"/>
              </a:lnSpc>
              <a:spcBef>
                <a:spcPts val="1000"/>
              </a:spcBef>
              <a:spcAft>
                <a:spcPts val="0"/>
              </a:spcAft>
              <a:buSzPts val="1600"/>
              <a:buChar char="❏"/>
            </a:pPr>
            <a:r>
              <a:rPr lang="en" sz="1600"/>
              <a:t>Some academic writers and political groups argue that hacktivism is ethical, that it is a modern form of civil disobedience.</a:t>
            </a:r>
            <a:endParaRPr sz="1600"/>
          </a:p>
          <a:p>
            <a:pPr indent="0" lvl="0" marL="0" marR="0" rtl="0" algn="l">
              <a:lnSpc>
                <a:spcPct val="100000"/>
              </a:lnSpc>
              <a:spcBef>
                <a:spcPts val="1000"/>
              </a:spcBef>
              <a:spcAft>
                <a:spcPts val="0"/>
              </a:spcAft>
              <a:buNone/>
            </a:pPr>
            <a:r>
              <a:t/>
            </a:r>
            <a:endParaRPr sz="1600"/>
          </a:p>
          <a:p>
            <a:pPr indent="0" lvl="0" marL="91440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1584ea07bae_0_7"/>
          <p:cNvSpPr txBox="1"/>
          <p:nvPr>
            <p:ph type="title"/>
          </p:nvPr>
        </p:nvSpPr>
        <p:spPr>
          <a:xfrm>
            <a:off x="311700" y="62600"/>
            <a:ext cx="8742900" cy="5232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a:solidFill>
                  <a:schemeClr val="lt1"/>
                </a:solidFill>
                <a:latin typeface="Malgun Gothic"/>
                <a:ea typeface="Malgun Gothic"/>
                <a:cs typeface="Malgun Gothic"/>
                <a:sym typeface="Malgun Gothic"/>
              </a:rPr>
              <a:t>Hacktivism</a:t>
            </a:r>
            <a:endParaRPr b="1">
              <a:solidFill>
                <a:schemeClr val="lt1"/>
              </a:solidFill>
              <a:latin typeface="Malgun Gothic"/>
              <a:ea typeface="Malgun Gothic"/>
              <a:cs typeface="Malgun Gothic"/>
              <a:sym typeface="Malgun Gothic"/>
            </a:endParaRPr>
          </a:p>
        </p:txBody>
      </p:sp>
      <p:sp>
        <p:nvSpPr>
          <p:cNvPr id="153" name="Google Shape;153;g1584ea07bae_0_7"/>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54" name="Google Shape;154;g1584ea07bae_0_7"/>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g1584ea07bae_0_7"/>
          <p:cNvSpPr txBox="1"/>
          <p:nvPr/>
        </p:nvSpPr>
        <p:spPr>
          <a:xfrm>
            <a:off x="622025" y="1033825"/>
            <a:ext cx="7776300" cy="25500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1000"/>
              </a:spcBef>
              <a:spcAft>
                <a:spcPts val="0"/>
              </a:spcAft>
              <a:buClr>
                <a:srgbClr val="000000"/>
              </a:buClr>
              <a:buSzPts val="1600"/>
              <a:buFont typeface="Arial"/>
              <a:buChar char="❏"/>
            </a:pPr>
            <a:r>
              <a:rPr lang="en" sz="1600"/>
              <a:t>Others argue that the political motive is irrelevant, or at the other extreme, that political hacking is a form of cyberterrorism.</a:t>
            </a:r>
            <a:endParaRPr sz="1600"/>
          </a:p>
          <a:p>
            <a:pPr indent="-330200" lvl="0" marL="457200" marR="0" rtl="0" algn="l">
              <a:lnSpc>
                <a:spcPct val="100000"/>
              </a:lnSpc>
              <a:spcBef>
                <a:spcPts val="1000"/>
              </a:spcBef>
              <a:spcAft>
                <a:spcPts val="0"/>
              </a:spcAft>
              <a:buClr>
                <a:srgbClr val="000000"/>
              </a:buClr>
              <a:buSzPts val="1600"/>
              <a:buFont typeface="Arial"/>
              <a:buChar char="❏"/>
            </a:pPr>
            <a:r>
              <a:rPr lang="en" sz="1600"/>
              <a:t>They think so:</a:t>
            </a:r>
            <a:endParaRPr sz="1600"/>
          </a:p>
          <a:p>
            <a:pPr indent="-330200" lvl="1" marL="914400" marR="0" rtl="0" algn="l">
              <a:lnSpc>
                <a:spcPct val="100000"/>
              </a:lnSpc>
              <a:spcBef>
                <a:spcPts val="1000"/>
              </a:spcBef>
              <a:spcAft>
                <a:spcPts val="0"/>
              </a:spcAft>
              <a:buClr>
                <a:srgbClr val="000000"/>
              </a:buClr>
              <a:buSzPts val="1600"/>
              <a:buFont typeface="Arial"/>
              <a:buChar char="❏"/>
            </a:pPr>
            <a:r>
              <a:rPr lang="en" sz="1600"/>
              <a:t> Denies others their own freedom of speech.</a:t>
            </a:r>
            <a:endParaRPr sz="1600"/>
          </a:p>
          <a:p>
            <a:pPr indent="-330200" lvl="1" marL="914400" marR="0" rtl="0" algn="l">
              <a:lnSpc>
                <a:spcPct val="100000"/>
              </a:lnSpc>
              <a:spcBef>
                <a:spcPts val="1000"/>
              </a:spcBef>
              <a:spcAft>
                <a:spcPts val="0"/>
              </a:spcAft>
              <a:buClr>
                <a:srgbClr val="000000"/>
              </a:buClr>
              <a:buSzPts val="1600"/>
              <a:buFont typeface="Arial"/>
              <a:buChar char="❏"/>
            </a:pPr>
            <a:r>
              <a:rPr lang="en" sz="1600"/>
              <a:t>Violates property rights.</a:t>
            </a:r>
            <a:endParaRPr sz="1600"/>
          </a:p>
          <a:p>
            <a:pPr indent="-330200" lvl="1" marL="914400" marR="0" rtl="0" algn="l">
              <a:lnSpc>
                <a:spcPct val="100000"/>
              </a:lnSpc>
              <a:spcBef>
                <a:spcPts val="1000"/>
              </a:spcBef>
              <a:spcAft>
                <a:spcPts val="0"/>
              </a:spcAft>
              <a:buClr>
                <a:srgbClr val="000000"/>
              </a:buClr>
              <a:buSzPts val="1600"/>
              <a:buFont typeface="Arial"/>
              <a:buChar char="❏"/>
            </a:pPr>
            <a:r>
              <a:rPr lang="en" sz="1600"/>
              <a:t> Even some hacktivists reject web-site defacing as legitimate.activity.</a:t>
            </a:r>
            <a:endParaRPr sz="1600"/>
          </a:p>
          <a:p>
            <a:pPr indent="0" lvl="0" marL="914400" marR="0" rtl="0" algn="l">
              <a:lnSpc>
                <a:spcPct val="100000"/>
              </a:lnSpc>
              <a:spcBef>
                <a:spcPts val="100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sp>
        <p:nvSpPr>
          <p:cNvPr id="160" name="Google Shape;160;g13fbedf9817_1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61" name="Google Shape;161;g13fbedf9817_1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g13fbedf9817_1_0"/>
          <p:cNvSpPr/>
          <p:nvPr/>
        </p:nvSpPr>
        <p:spPr>
          <a:xfrm>
            <a:off x="1176600" y="1740525"/>
            <a:ext cx="6790800" cy="1535700"/>
          </a:xfrm>
          <a:prstGeom prst="roundRect">
            <a:avLst>
              <a:gd fmla="val 16667" name="adj"/>
            </a:avLst>
          </a:prstGeom>
          <a:solidFill>
            <a:schemeClr val="lt2"/>
          </a:solidFill>
          <a:ln cap="flat" cmpd="sng" w="28575">
            <a:solidFill>
              <a:schemeClr val="accent3"/>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Arial"/>
              <a:buNone/>
            </a:pPr>
            <a:r>
              <a:rPr b="1" i="0" lang="en" sz="3900" u="none" cap="none" strike="noStrike">
                <a:solidFill>
                  <a:schemeClr val="accent3"/>
                </a:solidFill>
                <a:latin typeface="Arial"/>
                <a:ea typeface="Arial"/>
                <a:cs typeface="Arial"/>
                <a:sym typeface="Arial"/>
              </a:rPr>
              <a:t>Thank You</a:t>
            </a:r>
            <a:endParaRPr b="1" i="0" sz="3900" u="none" cap="none" strike="noStrike">
              <a:solidFill>
                <a:schemeClr val="accent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