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obo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22" roundtripDataSignature="AMtx7mgNa949cZumuaeoFDmAwhi5zSs3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Robo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.fntdata"/><Relationship Id="rId6" Type="http://schemas.openxmlformats.org/officeDocument/2006/relationships/slide" Target="slides/slide1.xml"/><Relationship Id="rId18" Type="http://schemas.openxmlformats.org/officeDocument/2006/relationships/font" Target="fonts/Robo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12cd06712c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" name="Google Shape;102;g112cd06712c_0_18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45f17dee8c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g145f17dee8c_1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45f5af3cc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g145f5af3cc2_0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143fda0858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g143fda08588_0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43fda0858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g143fda08588_0_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146873a736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g146873a7365_0_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44bbcddc71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" name="Google Shape;150;g144bbcddc71_0_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46873a7365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" name="Google Shape;158;g146873a7365_0_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46873a7365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g146873a7365_0_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46873a7365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g146873a7365_0_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13fbedf981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g13fbedf9817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" name="Google Shape;17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" name="Google Shape;21;p3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" name="Google Shape;22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5" name="Google Shape;25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112cd06712c_0_1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Google Shape;28;g112cd06712c_0_1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9" name="Google Shape;29;g112cd06712c_0_1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g112cd06712c_0_1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g112cd06712c_0_1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f59b91e696_0_41"/>
          <p:cNvSpPr txBox="1"/>
          <p:nvPr>
            <p:ph type="title"/>
          </p:nvPr>
        </p:nvSpPr>
        <p:spPr>
          <a:xfrm>
            <a:off x="967739" y="-11430"/>
            <a:ext cx="7200900" cy="10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600">
                <a:solidFill>
                  <a:srgbClr val="2B7B9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" name="Google Shape;39;gf59b91e696_0_41"/>
          <p:cNvSpPr txBox="1"/>
          <p:nvPr>
            <p:ph idx="1" type="body"/>
          </p:nvPr>
        </p:nvSpPr>
        <p:spPr>
          <a:xfrm>
            <a:off x="628650" y="1038987"/>
            <a:ext cx="5144100" cy="3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0" i="0" sz="2400">
                <a:solidFill>
                  <a:srgbClr val="58585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gf59b91e696_0_41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" name="Google Shape;41;gf59b91e696_0_41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gf59b91e696_0_41"/>
          <p:cNvSpPr txBox="1"/>
          <p:nvPr>
            <p:ph idx="12" type="sldNum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5" name="Google Shape;45;p3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6" name="Google Shape;46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9" name="Google Shape;49;p3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0" name="Google Shape;50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3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4" name="Google Shape;54;p3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5" name="Google Shape;55;p3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2" name="Google Shape;62;p3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3" name="Google Shape;63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1">
  <p:cSld name="ONE_COLUMN_TEXT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8"/>
          <p:cNvSpPr/>
          <p:nvPr/>
        </p:nvSpPr>
        <p:spPr>
          <a:xfrm>
            <a:off x="9" y="-962172"/>
            <a:ext cx="9233805" cy="6330149"/>
          </a:xfrm>
          <a:custGeom>
            <a:rect b="b" l="l" r="r" t="t"/>
            <a:pathLst>
              <a:path extrusionOk="0" h="72886" w="106319">
                <a:moveTo>
                  <a:pt x="98047" y="17578"/>
                </a:moveTo>
                <a:cubicBezTo>
                  <a:pt x="90726" y="25294"/>
                  <a:pt x="78229" y="26537"/>
                  <a:pt x="85120" y="17578"/>
                </a:cubicBezTo>
                <a:cubicBezTo>
                  <a:pt x="89094" y="12414"/>
                  <a:pt x="90660" y="5194"/>
                  <a:pt x="91276" y="1"/>
                </a:cubicBezTo>
                <a:lnTo>
                  <a:pt x="0" y="1"/>
                </a:lnTo>
                <a:lnTo>
                  <a:pt x="0" y="64267"/>
                </a:lnTo>
                <a:cubicBezTo>
                  <a:pt x="1853" y="61996"/>
                  <a:pt x="5128" y="58082"/>
                  <a:pt x="7238" y="50485"/>
                </a:cubicBezTo>
                <a:cubicBezTo>
                  <a:pt x="12754" y="30673"/>
                  <a:pt x="28951" y="29985"/>
                  <a:pt x="35083" y="37217"/>
                </a:cubicBezTo>
                <a:cubicBezTo>
                  <a:pt x="41980" y="45357"/>
                  <a:pt x="33105" y="66114"/>
                  <a:pt x="48531" y="72886"/>
                </a:cubicBezTo>
                <a:lnTo>
                  <a:pt x="106319" y="72886"/>
                </a:lnTo>
                <a:lnTo>
                  <a:pt x="106319" y="1"/>
                </a:lnTo>
                <a:lnTo>
                  <a:pt x="105877" y="1"/>
                </a:lnTo>
                <a:cubicBezTo>
                  <a:pt x="105106" y="4399"/>
                  <a:pt x="103086" y="12271"/>
                  <a:pt x="98047" y="17578"/>
                </a:cubicBezTo>
                <a:close/>
              </a:path>
            </a:pathLst>
          </a:custGeom>
          <a:gradFill>
            <a:gsLst>
              <a:gs pos="0">
                <a:srgbClr val="FFFEFE"/>
              </a:gs>
              <a:gs pos="65000">
                <a:srgbClr val="ECECEC"/>
              </a:gs>
              <a:gs pos="100000">
                <a:schemeClr val="accent3"/>
              </a:gs>
            </a:gsLst>
            <a:lin ang="5400700" scaled="0"/>
          </a:gradFill>
          <a:ln>
            <a:noFill/>
          </a:ln>
          <a:effectLst>
            <a:outerShdw blurRad="57150" rotWithShape="0" algn="bl" dist="19050">
              <a:srgbClr val="B7B7B7">
                <a:alpha val="6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6" name="Google Shape;66;p38"/>
          <p:cNvGrpSpPr/>
          <p:nvPr/>
        </p:nvGrpSpPr>
        <p:grpSpPr>
          <a:xfrm>
            <a:off x="3247824" y="-408375"/>
            <a:ext cx="5985963" cy="5776828"/>
            <a:chOff x="2407800" y="3054100"/>
            <a:chExt cx="1723075" cy="1662875"/>
          </a:xfrm>
        </p:grpSpPr>
        <p:sp>
          <p:nvSpPr>
            <p:cNvPr id="67" name="Google Shape;67;p38"/>
            <p:cNvSpPr/>
            <p:nvPr/>
          </p:nvSpPr>
          <p:spPr>
            <a:xfrm>
              <a:off x="2407800" y="3054100"/>
              <a:ext cx="1723075" cy="1662725"/>
            </a:xfrm>
            <a:custGeom>
              <a:rect b="b" l="l" r="r" t="t"/>
              <a:pathLst>
                <a:path extrusionOk="0" h="66509" w="68923">
                  <a:moveTo>
                    <a:pt x="68923" y="1"/>
                  </a:moveTo>
                  <a:cubicBezTo>
                    <a:pt x="68923" y="1"/>
                    <a:pt x="66682" y="14476"/>
                    <a:pt x="52039" y="20507"/>
                  </a:cubicBezTo>
                  <a:cubicBezTo>
                    <a:pt x="37396" y="26537"/>
                    <a:pt x="26877" y="21194"/>
                    <a:pt x="16543" y="24296"/>
                  </a:cubicBezTo>
                  <a:cubicBezTo>
                    <a:pt x="6204" y="27398"/>
                    <a:pt x="0" y="40839"/>
                    <a:pt x="6204" y="52900"/>
                  </a:cubicBezTo>
                  <a:cubicBezTo>
                    <a:pt x="12408" y="64961"/>
                    <a:pt x="24642" y="66509"/>
                    <a:pt x="24642" y="66509"/>
                  </a:cubicBezTo>
                  <a:lnTo>
                    <a:pt x="68923" y="66509"/>
                  </a:lnTo>
                  <a:close/>
                </a:path>
              </a:pathLst>
            </a:custGeom>
            <a:gradFill>
              <a:gsLst>
                <a:gs pos="0">
                  <a:srgbClr val="FFFEFE"/>
                </a:gs>
                <a:gs pos="65000">
                  <a:srgbClr val="ECECEC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5400000" dist="19050">
                <a:srgbClr val="999999">
                  <a:alpha val="45098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38"/>
            <p:cNvSpPr/>
            <p:nvPr/>
          </p:nvSpPr>
          <p:spPr>
            <a:xfrm>
              <a:off x="2584850" y="3364300"/>
              <a:ext cx="1546025" cy="1352675"/>
            </a:xfrm>
            <a:custGeom>
              <a:rect b="b" l="l" r="r" t="t"/>
              <a:pathLst>
                <a:path extrusionOk="0" h="54107" w="61841">
                  <a:moveTo>
                    <a:pt x="61841" y="0"/>
                  </a:moveTo>
                  <a:cubicBezTo>
                    <a:pt x="61841" y="0"/>
                    <a:pt x="58566" y="8439"/>
                    <a:pt x="40815" y="11888"/>
                  </a:cubicBezTo>
                  <a:cubicBezTo>
                    <a:pt x="23070" y="15336"/>
                    <a:pt x="7943" y="12426"/>
                    <a:pt x="4118" y="27050"/>
                  </a:cubicBezTo>
                  <a:cubicBezTo>
                    <a:pt x="0" y="42781"/>
                    <a:pt x="17554" y="54107"/>
                    <a:pt x="17554" y="54107"/>
                  </a:cubicBezTo>
                  <a:lnTo>
                    <a:pt x="61841" y="54107"/>
                  </a:lnTo>
                  <a:close/>
                </a:path>
              </a:pathLst>
            </a:custGeom>
            <a:gradFill>
              <a:gsLst>
                <a:gs pos="0">
                  <a:srgbClr val="FFFEFE"/>
                </a:gs>
                <a:gs pos="65000">
                  <a:srgbClr val="ECECEC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10800000" dist="19050">
                <a:srgbClr val="B7B7B7">
                  <a:alpha val="41568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38"/>
            <p:cNvSpPr/>
            <p:nvPr/>
          </p:nvSpPr>
          <p:spPr>
            <a:xfrm>
              <a:off x="2799700" y="3644300"/>
              <a:ext cx="1331175" cy="1072525"/>
            </a:xfrm>
            <a:custGeom>
              <a:rect b="b" l="l" r="r" t="t"/>
              <a:pathLst>
                <a:path extrusionOk="0" h="42901" w="53247">
                  <a:moveTo>
                    <a:pt x="53247" y="0"/>
                  </a:moveTo>
                  <a:cubicBezTo>
                    <a:pt x="53247" y="0"/>
                    <a:pt x="49625" y="4363"/>
                    <a:pt x="32568" y="5021"/>
                  </a:cubicBezTo>
                  <a:cubicBezTo>
                    <a:pt x="15510" y="5684"/>
                    <a:pt x="3790" y="6270"/>
                    <a:pt x="1895" y="19502"/>
                  </a:cubicBezTo>
                  <a:cubicBezTo>
                    <a:pt x="1" y="32734"/>
                    <a:pt x="10687" y="42901"/>
                    <a:pt x="10687" y="42901"/>
                  </a:cubicBezTo>
                  <a:lnTo>
                    <a:pt x="53247" y="42901"/>
                  </a:lnTo>
                  <a:close/>
                </a:path>
              </a:pathLst>
            </a:custGeom>
            <a:gradFill>
              <a:gsLst>
                <a:gs pos="0">
                  <a:srgbClr val="FFFEFE"/>
                </a:gs>
                <a:gs pos="65000">
                  <a:srgbClr val="ECECEC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10800000" dist="19050">
                <a:srgbClr val="B7B7B7">
                  <a:alpha val="41568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38"/>
            <p:cNvSpPr/>
            <p:nvPr/>
          </p:nvSpPr>
          <p:spPr>
            <a:xfrm>
              <a:off x="2799700" y="3644300"/>
              <a:ext cx="1331175" cy="1072525"/>
            </a:xfrm>
            <a:custGeom>
              <a:rect b="b" l="l" r="r" t="t"/>
              <a:pathLst>
                <a:path extrusionOk="0" fill="none" h="42901" w="53247">
                  <a:moveTo>
                    <a:pt x="53247" y="0"/>
                  </a:moveTo>
                  <a:cubicBezTo>
                    <a:pt x="53247" y="0"/>
                    <a:pt x="49625" y="4363"/>
                    <a:pt x="32568" y="5021"/>
                  </a:cubicBezTo>
                  <a:cubicBezTo>
                    <a:pt x="15510" y="5684"/>
                    <a:pt x="3790" y="6270"/>
                    <a:pt x="1895" y="19502"/>
                  </a:cubicBezTo>
                  <a:cubicBezTo>
                    <a:pt x="1" y="32734"/>
                    <a:pt x="10687" y="42901"/>
                    <a:pt x="10687" y="42901"/>
                  </a:cubicBezTo>
                </a:path>
              </a:pathLst>
            </a:custGeom>
            <a:gradFill>
              <a:gsLst>
                <a:gs pos="0">
                  <a:srgbClr val="FFFEFE"/>
                </a:gs>
                <a:gs pos="65000">
                  <a:srgbClr val="ECECEC"/>
                </a:gs>
                <a:gs pos="100000">
                  <a:schemeClr val="accent3"/>
                </a:gs>
              </a:gsLst>
              <a:lin ang="5400700" scaled="0"/>
            </a:gradFill>
            <a:ln cap="flat" cmpd="sng" w="9525">
              <a:solidFill>
                <a:srgbClr val="FFFFFF"/>
              </a:solidFill>
              <a:prstDash val="solid"/>
              <a:miter lim="597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38"/>
            <p:cNvSpPr/>
            <p:nvPr/>
          </p:nvSpPr>
          <p:spPr>
            <a:xfrm>
              <a:off x="2584850" y="3364300"/>
              <a:ext cx="1546025" cy="1352675"/>
            </a:xfrm>
            <a:custGeom>
              <a:rect b="b" l="l" r="r" t="t"/>
              <a:pathLst>
                <a:path extrusionOk="0" fill="none" h="54107" w="61841">
                  <a:moveTo>
                    <a:pt x="61841" y="0"/>
                  </a:moveTo>
                  <a:cubicBezTo>
                    <a:pt x="61841" y="0"/>
                    <a:pt x="58566" y="8439"/>
                    <a:pt x="40815" y="11888"/>
                  </a:cubicBezTo>
                  <a:cubicBezTo>
                    <a:pt x="23070" y="15336"/>
                    <a:pt x="7943" y="12426"/>
                    <a:pt x="4118" y="27050"/>
                  </a:cubicBezTo>
                  <a:cubicBezTo>
                    <a:pt x="0" y="42781"/>
                    <a:pt x="17554" y="54107"/>
                    <a:pt x="17554" y="54107"/>
                  </a:cubicBezTo>
                </a:path>
              </a:pathLst>
            </a:custGeom>
            <a:gradFill>
              <a:gsLst>
                <a:gs pos="0">
                  <a:srgbClr val="FFFEFE"/>
                </a:gs>
                <a:gs pos="65000">
                  <a:srgbClr val="ECECEC"/>
                </a:gs>
                <a:gs pos="100000">
                  <a:schemeClr val="accent3"/>
                </a:gs>
              </a:gsLst>
              <a:lin ang="5400700" scaled="0"/>
            </a:gradFill>
            <a:ln cap="flat" cmpd="sng" w="9525">
              <a:solidFill>
                <a:srgbClr val="FFFFFF"/>
              </a:solidFill>
              <a:prstDash val="solid"/>
              <a:miter lim="597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8"/>
            <p:cNvSpPr/>
            <p:nvPr/>
          </p:nvSpPr>
          <p:spPr>
            <a:xfrm>
              <a:off x="2407800" y="3054100"/>
              <a:ext cx="1723075" cy="1662725"/>
            </a:xfrm>
            <a:custGeom>
              <a:rect b="b" l="l" r="r" t="t"/>
              <a:pathLst>
                <a:path extrusionOk="0" fill="none" h="66509" w="68923">
                  <a:moveTo>
                    <a:pt x="68923" y="1"/>
                  </a:moveTo>
                  <a:cubicBezTo>
                    <a:pt x="68923" y="1"/>
                    <a:pt x="66682" y="14476"/>
                    <a:pt x="52039" y="20507"/>
                  </a:cubicBezTo>
                  <a:cubicBezTo>
                    <a:pt x="37396" y="26537"/>
                    <a:pt x="26877" y="21194"/>
                    <a:pt x="16543" y="24296"/>
                  </a:cubicBezTo>
                  <a:cubicBezTo>
                    <a:pt x="6204" y="27398"/>
                    <a:pt x="0" y="40839"/>
                    <a:pt x="6204" y="52900"/>
                  </a:cubicBezTo>
                  <a:cubicBezTo>
                    <a:pt x="12408" y="64961"/>
                    <a:pt x="24642" y="66509"/>
                    <a:pt x="24642" y="66509"/>
                  </a:cubicBezTo>
                </a:path>
              </a:pathLst>
            </a:custGeom>
            <a:gradFill>
              <a:gsLst>
                <a:gs pos="0">
                  <a:srgbClr val="FFFEFE"/>
                </a:gs>
                <a:gs pos="65000">
                  <a:srgbClr val="ECECEC"/>
                </a:gs>
                <a:gs pos="100000">
                  <a:schemeClr val="accent3"/>
                </a:gs>
              </a:gsLst>
              <a:lin ang="5400700" scaled="0"/>
            </a:gradFill>
            <a:ln cap="flat" cmpd="sng" w="9525">
              <a:solidFill>
                <a:srgbClr val="FFFFFF"/>
              </a:solidFill>
              <a:prstDash val="solid"/>
              <a:miter lim="597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3" name="Google Shape;73;p38"/>
          <p:cNvGrpSpPr/>
          <p:nvPr/>
        </p:nvGrpSpPr>
        <p:grpSpPr>
          <a:xfrm>
            <a:off x="-17" y="-962218"/>
            <a:ext cx="7767430" cy="4298033"/>
            <a:chOff x="1472900" y="2894675"/>
            <a:chExt cx="2235875" cy="1237200"/>
          </a:xfrm>
        </p:grpSpPr>
        <p:sp>
          <p:nvSpPr>
            <p:cNvPr id="74" name="Google Shape;74;p38"/>
            <p:cNvSpPr/>
            <p:nvPr/>
          </p:nvSpPr>
          <p:spPr>
            <a:xfrm>
              <a:off x="1472900" y="2894675"/>
              <a:ext cx="2235875" cy="1237200"/>
            </a:xfrm>
            <a:custGeom>
              <a:rect b="b" l="l" r="r" t="t"/>
              <a:pathLst>
                <a:path extrusionOk="0" h="49488" w="89435">
                  <a:moveTo>
                    <a:pt x="0" y="49487"/>
                  </a:moveTo>
                  <a:cubicBezTo>
                    <a:pt x="0" y="49487"/>
                    <a:pt x="4190" y="33691"/>
                    <a:pt x="19992" y="27224"/>
                  </a:cubicBezTo>
                  <a:cubicBezTo>
                    <a:pt x="38944" y="19473"/>
                    <a:pt x="46331" y="28665"/>
                    <a:pt x="65827" y="23608"/>
                  </a:cubicBezTo>
                  <a:cubicBezTo>
                    <a:pt x="85317" y="18546"/>
                    <a:pt x="89435" y="1"/>
                    <a:pt x="89435" y="1"/>
                  </a:cubicBezTo>
                  <a:lnTo>
                    <a:pt x="6" y="1"/>
                  </a:lnTo>
                  <a:close/>
                </a:path>
              </a:pathLst>
            </a:custGeom>
            <a:gradFill>
              <a:gsLst>
                <a:gs pos="0">
                  <a:srgbClr val="FFFEFE"/>
                </a:gs>
                <a:gs pos="65000">
                  <a:srgbClr val="ECECEC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8820000" dist="19050">
                <a:srgbClr val="B7B7B7">
                  <a:alpha val="45098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38"/>
            <p:cNvSpPr/>
            <p:nvPr/>
          </p:nvSpPr>
          <p:spPr>
            <a:xfrm>
              <a:off x="1472900" y="2894675"/>
              <a:ext cx="1990250" cy="1016650"/>
            </a:xfrm>
            <a:custGeom>
              <a:rect b="b" l="l" r="r" t="t"/>
              <a:pathLst>
                <a:path extrusionOk="0" h="40666" w="79610">
                  <a:moveTo>
                    <a:pt x="0" y="40666"/>
                  </a:moveTo>
                  <a:cubicBezTo>
                    <a:pt x="0" y="40666"/>
                    <a:pt x="2743" y="28975"/>
                    <a:pt x="17410" y="23608"/>
                  </a:cubicBezTo>
                  <a:cubicBezTo>
                    <a:pt x="31109" y="18594"/>
                    <a:pt x="41508" y="24887"/>
                    <a:pt x="59342" y="20261"/>
                  </a:cubicBezTo>
                  <a:cubicBezTo>
                    <a:pt x="77177" y="15630"/>
                    <a:pt x="79609" y="1"/>
                    <a:pt x="79609" y="1"/>
                  </a:cubicBez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FFFEFE"/>
                </a:gs>
                <a:gs pos="65000">
                  <a:srgbClr val="ECECEC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6600000" dist="19050">
                <a:srgbClr val="B7B7B7">
                  <a:alpha val="4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38"/>
            <p:cNvSpPr/>
            <p:nvPr/>
          </p:nvSpPr>
          <p:spPr>
            <a:xfrm>
              <a:off x="1472900" y="2894675"/>
              <a:ext cx="1754175" cy="766825"/>
            </a:xfrm>
            <a:custGeom>
              <a:rect b="b" l="l" r="r" t="t"/>
              <a:pathLst>
                <a:path extrusionOk="0" h="30673" w="70167">
                  <a:moveTo>
                    <a:pt x="0" y="30673"/>
                  </a:moveTo>
                  <a:cubicBezTo>
                    <a:pt x="0" y="30673"/>
                    <a:pt x="4136" y="22228"/>
                    <a:pt x="16436" y="18953"/>
                  </a:cubicBezTo>
                  <a:cubicBezTo>
                    <a:pt x="28443" y="15761"/>
                    <a:pt x="35352" y="21194"/>
                    <a:pt x="50539" y="17255"/>
                  </a:cubicBezTo>
                  <a:cubicBezTo>
                    <a:pt x="65725" y="13311"/>
                    <a:pt x="70166" y="1"/>
                    <a:pt x="70166" y="1"/>
                  </a:cubicBezTo>
                  <a:lnTo>
                    <a:pt x="0" y="1"/>
                  </a:lnTo>
                  <a:close/>
                </a:path>
              </a:pathLst>
            </a:custGeom>
            <a:gradFill>
              <a:gsLst>
                <a:gs pos="0">
                  <a:srgbClr val="FFFEFE"/>
                </a:gs>
                <a:gs pos="65000">
                  <a:srgbClr val="ECECEC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  <a:effectLst>
              <a:outerShdw blurRad="57150" rotWithShape="0" algn="bl" dir="2580000" dist="19050">
                <a:srgbClr val="D9D9D9">
                  <a:alpha val="4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38"/>
            <p:cNvSpPr/>
            <p:nvPr/>
          </p:nvSpPr>
          <p:spPr>
            <a:xfrm>
              <a:off x="1472900" y="2894675"/>
              <a:ext cx="1754175" cy="766825"/>
            </a:xfrm>
            <a:custGeom>
              <a:rect b="b" l="l" r="r" t="t"/>
              <a:pathLst>
                <a:path extrusionOk="0" fill="none" h="30673" w="70167">
                  <a:moveTo>
                    <a:pt x="0" y="30673"/>
                  </a:moveTo>
                  <a:cubicBezTo>
                    <a:pt x="0" y="30673"/>
                    <a:pt x="4136" y="22228"/>
                    <a:pt x="16436" y="18953"/>
                  </a:cubicBezTo>
                  <a:cubicBezTo>
                    <a:pt x="28443" y="15761"/>
                    <a:pt x="35352" y="21194"/>
                    <a:pt x="50539" y="17255"/>
                  </a:cubicBezTo>
                  <a:cubicBezTo>
                    <a:pt x="65725" y="13311"/>
                    <a:pt x="70166" y="1"/>
                    <a:pt x="70166" y="1"/>
                  </a:cubicBezTo>
                </a:path>
              </a:pathLst>
            </a:custGeom>
            <a:gradFill>
              <a:gsLst>
                <a:gs pos="0">
                  <a:srgbClr val="FFFEFE"/>
                </a:gs>
                <a:gs pos="65000">
                  <a:srgbClr val="ECECEC"/>
                </a:gs>
                <a:gs pos="100000">
                  <a:schemeClr val="accent3"/>
                </a:gs>
              </a:gsLst>
              <a:lin ang="5400700" scaled="0"/>
            </a:gradFill>
            <a:ln cap="flat" cmpd="sng" w="9525">
              <a:solidFill>
                <a:srgbClr val="FFFFFF"/>
              </a:solidFill>
              <a:prstDash val="solid"/>
              <a:miter lim="597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38"/>
            <p:cNvSpPr/>
            <p:nvPr/>
          </p:nvSpPr>
          <p:spPr>
            <a:xfrm>
              <a:off x="1472900" y="2894675"/>
              <a:ext cx="1990250" cy="1016650"/>
            </a:xfrm>
            <a:custGeom>
              <a:rect b="b" l="l" r="r" t="t"/>
              <a:pathLst>
                <a:path extrusionOk="0" fill="none" h="40666" w="79610">
                  <a:moveTo>
                    <a:pt x="0" y="40666"/>
                  </a:moveTo>
                  <a:cubicBezTo>
                    <a:pt x="0" y="40666"/>
                    <a:pt x="2743" y="28975"/>
                    <a:pt x="17410" y="23608"/>
                  </a:cubicBezTo>
                  <a:cubicBezTo>
                    <a:pt x="31109" y="18594"/>
                    <a:pt x="41508" y="24887"/>
                    <a:pt x="59342" y="20261"/>
                  </a:cubicBezTo>
                  <a:cubicBezTo>
                    <a:pt x="77177" y="15630"/>
                    <a:pt x="79609" y="1"/>
                    <a:pt x="79609" y="1"/>
                  </a:cubicBezTo>
                </a:path>
              </a:pathLst>
            </a:custGeom>
            <a:gradFill>
              <a:gsLst>
                <a:gs pos="0">
                  <a:srgbClr val="FFFEFE"/>
                </a:gs>
                <a:gs pos="65000">
                  <a:srgbClr val="ECECEC"/>
                </a:gs>
                <a:gs pos="100000">
                  <a:schemeClr val="accent3"/>
                </a:gs>
              </a:gsLst>
              <a:lin ang="5400700" scaled="0"/>
            </a:gradFill>
            <a:ln cap="flat" cmpd="sng" w="9525">
              <a:solidFill>
                <a:srgbClr val="FFFFFF"/>
              </a:solidFill>
              <a:prstDash val="solid"/>
              <a:miter lim="597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38"/>
            <p:cNvSpPr/>
            <p:nvPr/>
          </p:nvSpPr>
          <p:spPr>
            <a:xfrm>
              <a:off x="1472900" y="2894675"/>
              <a:ext cx="2235875" cy="1237200"/>
            </a:xfrm>
            <a:custGeom>
              <a:rect b="b" l="l" r="r" t="t"/>
              <a:pathLst>
                <a:path extrusionOk="0" fill="none" h="49488" w="89435">
                  <a:moveTo>
                    <a:pt x="0" y="49487"/>
                  </a:moveTo>
                  <a:cubicBezTo>
                    <a:pt x="0" y="49487"/>
                    <a:pt x="4190" y="33691"/>
                    <a:pt x="19992" y="27224"/>
                  </a:cubicBezTo>
                  <a:cubicBezTo>
                    <a:pt x="38944" y="19473"/>
                    <a:pt x="46331" y="28665"/>
                    <a:pt x="65827" y="23608"/>
                  </a:cubicBezTo>
                  <a:cubicBezTo>
                    <a:pt x="85317" y="18546"/>
                    <a:pt x="89435" y="1"/>
                    <a:pt x="89435" y="1"/>
                  </a:cubicBezTo>
                </a:path>
              </a:pathLst>
            </a:custGeom>
            <a:gradFill>
              <a:gsLst>
                <a:gs pos="0">
                  <a:srgbClr val="FFFEFE"/>
                </a:gs>
                <a:gs pos="65000">
                  <a:srgbClr val="ECECEC"/>
                </a:gs>
                <a:gs pos="100000">
                  <a:schemeClr val="accent3"/>
                </a:gs>
              </a:gsLst>
              <a:lin ang="5400700" scaled="0"/>
            </a:gradFill>
            <a:ln cap="flat" cmpd="sng" w="9525">
              <a:solidFill>
                <a:srgbClr val="FFFFFF"/>
              </a:solidFill>
              <a:prstDash val="solid"/>
              <a:miter lim="597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0" name="Google Shape;80;p38"/>
          <p:cNvSpPr/>
          <p:nvPr/>
        </p:nvSpPr>
        <p:spPr>
          <a:xfrm>
            <a:off x="720000" y="995250"/>
            <a:ext cx="3706500" cy="3153000"/>
          </a:xfrm>
          <a:prstGeom prst="roundRect">
            <a:avLst>
              <a:gd fmla="val 8467" name="adj"/>
            </a:avLst>
          </a:prstGeom>
          <a:solidFill>
            <a:schemeClr val="lt2"/>
          </a:solidFill>
          <a:ln>
            <a:noFill/>
          </a:ln>
          <a:effectLst>
            <a:outerShdw blurRad="185738" rotWithShape="0" algn="bl" dir="6120000" dist="66675">
              <a:srgbClr val="999999">
                <a:alpha val="5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8"/>
          <p:cNvSpPr txBox="1"/>
          <p:nvPr>
            <p:ph type="title"/>
          </p:nvPr>
        </p:nvSpPr>
        <p:spPr>
          <a:xfrm>
            <a:off x="1169275" y="1377288"/>
            <a:ext cx="28080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2" name="Google Shape;82;p38"/>
          <p:cNvSpPr txBox="1"/>
          <p:nvPr>
            <p:ph idx="1" type="subTitle"/>
          </p:nvPr>
        </p:nvSpPr>
        <p:spPr>
          <a:xfrm>
            <a:off x="1169275" y="1948813"/>
            <a:ext cx="2808000" cy="18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-Subtitle">
  <p:cSld name="Title-Subtitle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9"/>
          <p:cNvSpPr txBox="1"/>
          <p:nvPr>
            <p:ph idx="1" type="body"/>
          </p:nvPr>
        </p:nvSpPr>
        <p:spPr>
          <a:xfrm>
            <a:off x="387819" y="730530"/>
            <a:ext cx="8368500" cy="17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22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6" name="Google Shape;86;p39"/>
          <p:cNvSpPr txBox="1"/>
          <p:nvPr>
            <p:ph type="title"/>
          </p:nvPr>
        </p:nvSpPr>
        <p:spPr>
          <a:xfrm>
            <a:off x="387819" y="282611"/>
            <a:ext cx="83685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2800"/>
              <a:buFont typeface="Roboto"/>
              <a:buNone/>
              <a:defRPr b="0" i="0" sz="2800" u="none" cap="none" strike="noStrike">
                <a:solidFill>
                  <a:srgbClr val="5B5B5B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/>
        </p:txBody>
      </p:sp>
      <p:sp>
        <p:nvSpPr>
          <p:cNvPr id="87" name="Google Shape;87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>
  <p:cSld name="제목 슬라이드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001.png" id="89" name="Google Shape;89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1"/>
            <a:ext cx="9144003" cy="51435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0002.png" id="90" name="Google Shape;90;p40"/>
          <p:cNvPicPr preferRelativeResize="0"/>
          <p:nvPr/>
        </p:nvPicPr>
        <p:blipFill rotWithShape="1">
          <a:blip r:embed="rId3">
            <a:alphaModFix/>
          </a:blip>
          <a:srcRect b="5453" l="0" r="31877" t="73562"/>
          <a:stretch/>
        </p:blipFill>
        <p:spPr>
          <a:xfrm>
            <a:off x="0" y="3783725"/>
            <a:ext cx="6228185" cy="10792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0002.png" id="91" name="Google Shape;91;p40"/>
          <p:cNvPicPr preferRelativeResize="0"/>
          <p:nvPr/>
        </p:nvPicPr>
        <p:blipFill rotWithShape="1">
          <a:blip r:embed="rId3">
            <a:alphaModFix/>
          </a:blip>
          <a:srcRect b="5455" l="68112" r="0" t="0"/>
          <a:stretch/>
        </p:blipFill>
        <p:spPr>
          <a:xfrm>
            <a:off x="6228184" y="0"/>
            <a:ext cx="2915815" cy="48629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/>
          <p:nvPr/>
        </p:nvSpPr>
        <p:spPr>
          <a:xfrm>
            <a:off x="0" y="140500"/>
            <a:ext cx="9204000" cy="463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535776" y="582375"/>
            <a:ext cx="8222400" cy="10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</a:pPr>
            <a:r>
              <a:t/>
            </a:r>
            <a:endParaRPr b="1" i="0" sz="3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</a:pPr>
            <a:r>
              <a:rPr b="1" i="0" lang="en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   </a:t>
            </a:r>
            <a:endParaRPr b="1" i="0" sz="3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</a:pPr>
            <a:r>
              <a:rPr b="1" i="0" lang="en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" sz="2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 GIFT OF FIRE THIRD EDITION - SARA BAASE</a:t>
            </a:r>
            <a:endParaRPr b="1" i="0" sz="2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</a:pPr>
            <a:r>
              <a:rPr b="1" i="0" lang="en" sz="2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CHAPTER 2: PRIVACY</a:t>
            </a:r>
            <a:endParaRPr b="1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</a:pPr>
            <a:r>
              <a:t/>
            </a:r>
            <a:endParaRPr b="1" i="0" sz="3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</a:pPr>
            <a:r>
              <a:rPr b="1" i="0" lang="en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Lecture </a:t>
            </a:r>
            <a:r>
              <a:rPr b="1" lang="en"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1" i="0" sz="3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</a:pPr>
            <a:r>
              <a:rPr b="1" i="0" lang="en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"</a:t>
            </a:r>
            <a:r>
              <a:rPr b="1" lang="en"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DIVERSE PRIVACY TOPICS </a:t>
            </a:r>
            <a:r>
              <a:rPr b="1" i="0" lang="en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”</a:t>
            </a:r>
            <a:endParaRPr b="1" i="0" sz="3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2584725" y="3146550"/>
            <a:ext cx="4143900" cy="15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oto Sans Symbols"/>
              <a:buNone/>
            </a:pPr>
            <a:r>
              <a:t/>
            </a:r>
            <a:endParaRPr b="0" i="0" sz="1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oto Sans Symbols"/>
              <a:buNone/>
            </a:pPr>
            <a:r>
              <a:rPr b="0" i="0" lang="en" sz="1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Syada Tasmia Alvi</a:t>
            </a:r>
            <a:endParaRPr b="0" i="0" sz="1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oto Sans Symbols"/>
              <a:buNone/>
            </a:pPr>
            <a:r>
              <a:rPr b="0" i="0" lang="en" sz="1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Lecturer, Dept.of CSE</a:t>
            </a:r>
            <a:endParaRPr b="0" i="0" sz="1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oto Sans Symbols"/>
              <a:buNone/>
            </a:pPr>
            <a:r>
              <a:rPr b="0" i="0" lang="en" sz="1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Daffodil International University</a:t>
            </a:r>
            <a:endParaRPr b="0" i="0" sz="1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slow">
    <p:push dir="r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12cd06712c_0_185"/>
          <p:cNvSpPr txBox="1"/>
          <p:nvPr>
            <p:ph type="title"/>
          </p:nvPr>
        </p:nvSpPr>
        <p:spPr>
          <a:xfrm>
            <a:off x="311700" y="62600"/>
            <a:ext cx="8304000" cy="492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r>
              <a:rPr b="1" lang="en" sz="26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Marketing, Personalization and Consumer Dossiers:</a:t>
            </a:r>
            <a:endParaRPr b="1" sz="26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5" name="Google Shape;105;g112cd06712c_0_185"/>
          <p:cNvSpPr txBox="1"/>
          <p:nvPr>
            <p:ph idx="12" type="sldNum"/>
          </p:nvPr>
        </p:nvSpPr>
        <p:spPr>
          <a:xfrm>
            <a:off x="8137676" y="4583922"/>
            <a:ext cx="469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6" name="Google Shape;106;g112cd06712c_0_185"/>
          <p:cNvSpPr/>
          <p:nvPr/>
        </p:nvSpPr>
        <p:spPr>
          <a:xfrm>
            <a:off x="5400675" y="2035975"/>
            <a:ext cx="760800" cy="12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g112cd06712c_0_185"/>
          <p:cNvSpPr txBox="1"/>
          <p:nvPr/>
        </p:nvSpPr>
        <p:spPr>
          <a:xfrm>
            <a:off x="560675" y="879525"/>
            <a:ext cx="8393700" cy="3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➢"/>
            </a:pPr>
            <a:r>
              <a:rPr lang="en" sz="1800"/>
              <a:t>Targeted and personalized marketing (business, political parties, etc) </a:t>
            </a:r>
            <a:endParaRPr sz="1800"/>
          </a:p>
          <a:p>
            <a:pPr indent="-3429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➢"/>
            </a:pPr>
            <a:r>
              <a:rPr lang="en" sz="1800"/>
              <a:t>Paying for consumer information Examples -</a:t>
            </a:r>
            <a:endParaRPr sz="1800"/>
          </a:p>
          <a:p>
            <a:pPr indent="-342900" lvl="1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Targeting ads to users by scanning their emails! Like Gmail. </a:t>
            </a:r>
            <a:endParaRPr sz="1800"/>
          </a:p>
          <a:p>
            <a:pPr indent="-3429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➢"/>
            </a:pPr>
            <a:r>
              <a:rPr lang="en" sz="1800"/>
              <a:t>Data firms and consumer profiles</a:t>
            </a:r>
            <a:endParaRPr sz="1800"/>
          </a:p>
          <a:p>
            <a:pPr indent="-3429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 Companies (firms) that collect information about individuals </a:t>
            </a:r>
            <a:endParaRPr sz="1800"/>
          </a:p>
          <a:p>
            <a:pPr indent="-3429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These firms sell data to other companies for marketing purposes.</a:t>
            </a:r>
            <a:endParaRPr sz="1800"/>
          </a:p>
          <a:p>
            <a:pPr indent="-3429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➢"/>
            </a:pPr>
            <a:r>
              <a:rPr lang="en" sz="1800"/>
              <a:t>Data mining is being used</a:t>
            </a:r>
            <a:endParaRPr sz="1800"/>
          </a:p>
          <a:p>
            <a:pPr indent="-3429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➢"/>
            </a:pPr>
            <a:r>
              <a:rPr lang="en" sz="1800"/>
              <a:t> Credit records might be sold to different parties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45f17dee8c_1_2"/>
          <p:cNvSpPr txBox="1"/>
          <p:nvPr>
            <p:ph type="title"/>
          </p:nvPr>
        </p:nvSpPr>
        <p:spPr>
          <a:xfrm>
            <a:off x="311700" y="62600"/>
            <a:ext cx="7692900" cy="523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r>
              <a:rPr b="1" lang="en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Social Networks</a:t>
            </a:r>
            <a:endParaRPr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3" name="Google Shape;113;g145f17dee8c_1_2"/>
          <p:cNvSpPr txBox="1"/>
          <p:nvPr>
            <p:ph idx="12" type="sldNum"/>
          </p:nvPr>
        </p:nvSpPr>
        <p:spPr>
          <a:xfrm>
            <a:off x="8137676" y="4583922"/>
            <a:ext cx="469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4" name="Google Shape;114;g145f17dee8c_1_2"/>
          <p:cNvSpPr/>
          <p:nvPr/>
        </p:nvSpPr>
        <p:spPr>
          <a:xfrm>
            <a:off x="5400675" y="2035975"/>
            <a:ext cx="760800" cy="12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g145f17dee8c_1_2"/>
          <p:cNvSpPr txBox="1"/>
          <p:nvPr/>
        </p:nvSpPr>
        <p:spPr>
          <a:xfrm>
            <a:off x="622025" y="1033825"/>
            <a:ext cx="80898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❏"/>
            </a:pPr>
            <a:r>
              <a:rPr lang="en" sz="2000"/>
              <a:t>What we do  </a:t>
            </a:r>
            <a:endParaRPr sz="2000"/>
          </a:p>
          <a:p>
            <a:pPr indent="-355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○"/>
            </a:pPr>
            <a:r>
              <a:rPr lang="en" sz="2000"/>
              <a:t>Post opinions, gossip, pictures, “away from home” status</a:t>
            </a:r>
            <a:endParaRPr sz="2000"/>
          </a:p>
          <a:p>
            <a:pPr indent="-355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❏"/>
            </a:pPr>
            <a:r>
              <a:rPr lang="en" sz="2000"/>
              <a:t>  What they do  </a:t>
            </a:r>
            <a:endParaRPr sz="2000"/>
          </a:p>
          <a:p>
            <a:pPr indent="-3556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○"/>
            </a:pPr>
            <a:r>
              <a:rPr lang="en" sz="2000"/>
              <a:t>New services with unexpected privacy settings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45f5af3cc2_0_2"/>
          <p:cNvSpPr txBox="1"/>
          <p:nvPr>
            <p:ph type="title"/>
          </p:nvPr>
        </p:nvSpPr>
        <p:spPr>
          <a:xfrm>
            <a:off x="311700" y="62600"/>
            <a:ext cx="7692900" cy="523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r>
              <a:rPr b="1" lang="en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Location Tracking:</a:t>
            </a:r>
            <a:endParaRPr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1" name="Google Shape;121;g145f5af3cc2_0_2"/>
          <p:cNvSpPr txBox="1"/>
          <p:nvPr>
            <p:ph idx="12" type="sldNum"/>
          </p:nvPr>
        </p:nvSpPr>
        <p:spPr>
          <a:xfrm>
            <a:off x="8137676" y="4583922"/>
            <a:ext cx="469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2" name="Google Shape;122;g145f5af3cc2_0_2"/>
          <p:cNvSpPr/>
          <p:nvPr/>
        </p:nvSpPr>
        <p:spPr>
          <a:xfrm>
            <a:off x="5400675" y="2035975"/>
            <a:ext cx="760800" cy="12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g145f5af3cc2_0_2"/>
          <p:cNvSpPr txBox="1"/>
          <p:nvPr/>
        </p:nvSpPr>
        <p:spPr>
          <a:xfrm>
            <a:off x="311700" y="819500"/>
            <a:ext cx="8732400" cy="29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A61C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Char char="❏"/>
            </a:pPr>
            <a:r>
              <a:rPr lang="en" sz="2200"/>
              <a:t>Global Positioning Systems (GPS) -</a:t>
            </a:r>
            <a:endParaRPr sz="2200"/>
          </a:p>
          <a:p>
            <a:pPr indent="-3683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○"/>
            </a:pPr>
            <a:r>
              <a:rPr lang="en" sz="2200"/>
              <a:t> computer or communication services that know exactly where a person is at a particular time</a:t>
            </a:r>
            <a:endParaRPr sz="2200"/>
          </a:p>
          <a:p>
            <a:pPr indent="-3683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❏"/>
            </a:pPr>
            <a:r>
              <a:rPr lang="en" sz="2200"/>
              <a:t>Cell phones and other devices are used for location tracking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43fda08588_0_5"/>
          <p:cNvSpPr txBox="1"/>
          <p:nvPr>
            <p:ph type="title"/>
          </p:nvPr>
        </p:nvSpPr>
        <p:spPr>
          <a:xfrm>
            <a:off x="311700" y="62600"/>
            <a:ext cx="7692900" cy="523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r>
              <a:rPr b="1" lang="en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Stolen and Lost Data:</a:t>
            </a:r>
            <a:endParaRPr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9" name="Google Shape;129;g143fda08588_0_5"/>
          <p:cNvSpPr txBox="1"/>
          <p:nvPr>
            <p:ph idx="12" type="sldNum"/>
          </p:nvPr>
        </p:nvSpPr>
        <p:spPr>
          <a:xfrm>
            <a:off x="8137676" y="4583922"/>
            <a:ext cx="469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0" name="Google Shape;130;g143fda08588_0_5"/>
          <p:cNvSpPr/>
          <p:nvPr/>
        </p:nvSpPr>
        <p:spPr>
          <a:xfrm>
            <a:off x="5400675" y="2035975"/>
            <a:ext cx="760800" cy="12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g143fda08588_0_5"/>
          <p:cNvSpPr txBox="1"/>
          <p:nvPr/>
        </p:nvSpPr>
        <p:spPr>
          <a:xfrm>
            <a:off x="605550" y="1098125"/>
            <a:ext cx="7776300" cy="24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❏"/>
            </a:pPr>
            <a:r>
              <a:rPr lang="en" sz="1800"/>
              <a:t>Hackers </a:t>
            </a:r>
            <a:endParaRPr sz="1800"/>
          </a:p>
          <a:p>
            <a:pPr indent="-3429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❏"/>
            </a:pPr>
            <a:r>
              <a:rPr lang="en" sz="1800"/>
              <a:t>Physical theft (laptops, thumb-drives, etc.)</a:t>
            </a:r>
            <a:endParaRPr sz="1800"/>
          </a:p>
          <a:p>
            <a:pPr indent="-3429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❏"/>
            </a:pPr>
            <a:r>
              <a:rPr lang="en" sz="1800"/>
              <a:t> Requesting information under false pretenses </a:t>
            </a:r>
            <a:endParaRPr sz="1800"/>
          </a:p>
          <a:p>
            <a:pPr indent="-3429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❏"/>
            </a:pPr>
            <a:r>
              <a:rPr lang="en" sz="1800"/>
              <a:t>Bribery of employees who have access </a:t>
            </a:r>
            <a:endParaRPr sz="1800"/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143fda08588_0_15"/>
          <p:cNvSpPr txBox="1"/>
          <p:nvPr>
            <p:ph type="title"/>
          </p:nvPr>
        </p:nvSpPr>
        <p:spPr>
          <a:xfrm>
            <a:off x="311700" y="62600"/>
            <a:ext cx="7692900" cy="523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r>
              <a:rPr b="1" lang="en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What We Do Ourselves</a:t>
            </a:r>
            <a:endParaRPr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7" name="Google Shape;137;g143fda08588_0_15"/>
          <p:cNvSpPr txBox="1"/>
          <p:nvPr>
            <p:ph idx="12" type="sldNum"/>
          </p:nvPr>
        </p:nvSpPr>
        <p:spPr>
          <a:xfrm>
            <a:off x="8137676" y="4583922"/>
            <a:ext cx="469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8" name="Google Shape;138;g143fda08588_0_15"/>
          <p:cNvSpPr/>
          <p:nvPr/>
        </p:nvSpPr>
        <p:spPr>
          <a:xfrm>
            <a:off x="5400675" y="2035975"/>
            <a:ext cx="760800" cy="12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g143fda08588_0_15"/>
          <p:cNvSpPr txBox="1"/>
          <p:nvPr/>
        </p:nvSpPr>
        <p:spPr>
          <a:xfrm>
            <a:off x="622025" y="1033825"/>
            <a:ext cx="7776300" cy="31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❏"/>
            </a:pPr>
            <a:r>
              <a:rPr lang="en" sz="1800"/>
              <a:t>Some people do not know or understand enough how the web works in order to make good decisions about what to put there. </a:t>
            </a:r>
            <a:endParaRPr sz="1800"/>
          </a:p>
          <a:p>
            <a:pPr indent="-3429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❏"/>
            </a:pPr>
            <a:r>
              <a:rPr lang="en" sz="1800"/>
              <a:t> Some people do not think carefully. </a:t>
            </a:r>
            <a:endParaRPr sz="1800"/>
          </a:p>
          <a:p>
            <a:pPr indent="-3429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❏"/>
            </a:pPr>
            <a:r>
              <a:rPr lang="en" sz="1800"/>
              <a:t> People often want a lot of information about others but do not want others to have access to the same kind of information about themselves.</a:t>
            </a:r>
            <a:endParaRPr sz="1800"/>
          </a:p>
          <a:p>
            <a:pPr indent="-3429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❏"/>
            </a:pPr>
            <a:r>
              <a:rPr lang="en" sz="1800"/>
              <a:t>Our cell phone and email messages reside on computers outside our home or office.</a:t>
            </a:r>
            <a:endParaRPr sz="1800"/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Char char="❏"/>
            </a:pPr>
            <a:r>
              <a:rPr lang="en" sz="1800">
                <a:solidFill>
                  <a:schemeClr val="dk1"/>
                </a:solidFill>
              </a:rPr>
              <a:t>We have no direct control over such files.</a:t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46873a7365_0_13"/>
          <p:cNvSpPr txBox="1"/>
          <p:nvPr>
            <p:ph type="title"/>
          </p:nvPr>
        </p:nvSpPr>
        <p:spPr>
          <a:xfrm>
            <a:off x="311700" y="62600"/>
            <a:ext cx="7692900" cy="523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r>
              <a:rPr b="1" lang="en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What We Do Ourselves</a:t>
            </a:r>
            <a:endParaRPr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5" name="Google Shape;145;g146873a7365_0_13"/>
          <p:cNvSpPr txBox="1"/>
          <p:nvPr>
            <p:ph idx="12" type="sldNum"/>
          </p:nvPr>
        </p:nvSpPr>
        <p:spPr>
          <a:xfrm>
            <a:off x="8137676" y="4583922"/>
            <a:ext cx="469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Google Shape;146;g146873a7365_0_13"/>
          <p:cNvSpPr/>
          <p:nvPr/>
        </p:nvSpPr>
        <p:spPr>
          <a:xfrm>
            <a:off x="5400675" y="2035975"/>
            <a:ext cx="760800" cy="12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g146873a7365_0_13"/>
          <p:cNvSpPr txBox="1"/>
          <p:nvPr/>
        </p:nvSpPr>
        <p:spPr>
          <a:xfrm>
            <a:off x="609850" y="730725"/>
            <a:ext cx="7776300" cy="3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❏"/>
            </a:pPr>
            <a:r>
              <a:rPr lang="en" sz="1800"/>
              <a:t>There have been many incidents of exposure of emails for politicians, businessmen, etc</a:t>
            </a:r>
            <a:endParaRPr sz="1800"/>
          </a:p>
          <a:p>
            <a:pPr indent="-3429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❏"/>
            </a:pPr>
            <a:r>
              <a:rPr lang="en" sz="1800"/>
              <a:t>Personal information in blogs and online profiles</a:t>
            </a:r>
            <a:endParaRPr sz="1800"/>
          </a:p>
          <a:p>
            <a:pPr indent="-3429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❏"/>
            </a:pPr>
            <a:r>
              <a:rPr lang="en" sz="1800"/>
              <a:t> Pictures of ourselves and our families </a:t>
            </a:r>
            <a:endParaRPr sz="1800"/>
          </a:p>
          <a:p>
            <a:pPr indent="-3429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❏"/>
            </a:pPr>
            <a:r>
              <a:rPr lang="en" sz="1800"/>
              <a:t>File sharing and storing</a:t>
            </a:r>
            <a:endParaRPr sz="1800"/>
          </a:p>
          <a:p>
            <a:pPr indent="-3429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❏"/>
            </a:pPr>
            <a:r>
              <a:rPr lang="en" sz="1800"/>
              <a:t> Is privacy old-fashioned? </a:t>
            </a:r>
            <a:endParaRPr sz="1800"/>
          </a:p>
          <a:p>
            <a:pPr indent="-3429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Young people put less value on privacy than previous generations. </a:t>
            </a:r>
            <a:endParaRPr sz="1800"/>
          </a:p>
          <a:p>
            <a:pPr indent="-3429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○"/>
            </a:pPr>
            <a:r>
              <a:rPr lang="en" sz="1800"/>
              <a:t>May not understand the risks.</a:t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44bbcddc71_0_4"/>
          <p:cNvSpPr txBox="1"/>
          <p:nvPr>
            <p:ph type="title"/>
          </p:nvPr>
        </p:nvSpPr>
        <p:spPr>
          <a:xfrm>
            <a:off x="311700" y="62600"/>
            <a:ext cx="7692900" cy="523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r>
              <a:rPr b="1" lang="en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Public Records: Access vs. Privacy:</a:t>
            </a:r>
            <a:endParaRPr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3" name="Google Shape;153;g144bbcddc71_0_4"/>
          <p:cNvSpPr txBox="1"/>
          <p:nvPr>
            <p:ph idx="12" type="sldNum"/>
          </p:nvPr>
        </p:nvSpPr>
        <p:spPr>
          <a:xfrm>
            <a:off x="8137676" y="4583922"/>
            <a:ext cx="469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4" name="Google Shape;154;g144bbcddc71_0_4"/>
          <p:cNvSpPr/>
          <p:nvPr/>
        </p:nvSpPr>
        <p:spPr>
          <a:xfrm>
            <a:off x="5400675" y="2035975"/>
            <a:ext cx="760800" cy="12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144bbcddc71_0_4"/>
          <p:cNvSpPr txBox="1"/>
          <p:nvPr/>
        </p:nvSpPr>
        <p:spPr>
          <a:xfrm>
            <a:off x="835825" y="1146025"/>
            <a:ext cx="6643800" cy="25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00"/>
              <a:buChar char="➢"/>
            </a:pPr>
            <a:r>
              <a:rPr lang="en" sz="1700"/>
              <a:t>Public Records - </a:t>
            </a:r>
            <a:endParaRPr sz="1700"/>
          </a:p>
          <a:p>
            <a:pPr indent="-33655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Governments maintain “public records,”</a:t>
            </a:r>
            <a:endParaRPr sz="1700"/>
          </a:p>
          <a:p>
            <a:pPr indent="-33655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Records available to general public (bankruptcy, property, and arrest records, salaries of government employees, etc.)</a:t>
            </a:r>
            <a:endParaRPr sz="1700"/>
          </a:p>
          <a:p>
            <a:pPr indent="-3365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00"/>
              <a:buChar char="➢"/>
            </a:pPr>
            <a:r>
              <a:rPr lang="en" sz="1700"/>
              <a:t>  Identity theft can arise when public records are accesses.</a:t>
            </a:r>
            <a:endParaRPr sz="1700"/>
          </a:p>
          <a:p>
            <a:pPr indent="-3365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700"/>
              <a:buChar char="➢"/>
            </a:pPr>
            <a:r>
              <a:rPr lang="en" sz="1700"/>
              <a:t>How should we control access to sensitive public records?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46873a7365_0_23"/>
          <p:cNvSpPr txBox="1"/>
          <p:nvPr>
            <p:ph type="title"/>
          </p:nvPr>
        </p:nvSpPr>
        <p:spPr>
          <a:xfrm>
            <a:off x="311700" y="62600"/>
            <a:ext cx="7692900" cy="523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r>
              <a:rPr b="1" lang="en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Children ( privacy and safety) </a:t>
            </a:r>
            <a:endParaRPr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1" name="Google Shape;161;g146873a7365_0_23"/>
          <p:cNvSpPr txBox="1"/>
          <p:nvPr>
            <p:ph idx="12" type="sldNum"/>
          </p:nvPr>
        </p:nvSpPr>
        <p:spPr>
          <a:xfrm>
            <a:off x="8137676" y="4583922"/>
            <a:ext cx="469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" name="Google Shape;162;g146873a7365_0_23"/>
          <p:cNvSpPr/>
          <p:nvPr/>
        </p:nvSpPr>
        <p:spPr>
          <a:xfrm>
            <a:off x="5400675" y="2035975"/>
            <a:ext cx="760800" cy="12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g146873a7365_0_23"/>
          <p:cNvSpPr txBox="1"/>
          <p:nvPr/>
        </p:nvSpPr>
        <p:spPr>
          <a:xfrm>
            <a:off x="835825" y="1146025"/>
            <a:ext cx="6643800" cy="30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00"/>
              <a:buChar char="➢"/>
            </a:pPr>
            <a:r>
              <a:rPr lang="en" sz="1700"/>
              <a:t>The Internet</a:t>
            </a:r>
            <a:endParaRPr sz="1700"/>
          </a:p>
          <a:p>
            <a:pPr indent="-33655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Not able to make decisions on when to provide information </a:t>
            </a:r>
            <a:endParaRPr sz="1700"/>
          </a:p>
          <a:p>
            <a:pPr indent="-33655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Vulnerable to online predators </a:t>
            </a:r>
            <a:endParaRPr sz="1700"/>
          </a:p>
          <a:p>
            <a:pPr indent="-3365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00"/>
              <a:buChar char="➢"/>
            </a:pPr>
            <a:r>
              <a:rPr lang="en" sz="1700"/>
              <a:t>Parental monitoring </a:t>
            </a:r>
            <a:endParaRPr sz="1700"/>
          </a:p>
          <a:p>
            <a:pPr indent="-33655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Software to monitor Web usage </a:t>
            </a:r>
            <a:endParaRPr sz="1700"/>
          </a:p>
          <a:p>
            <a:pPr indent="-33655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Web cams to monitor children while parents are at work </a:t>
            </a:r>
            <a:endParaRPr sz="1700"/>
          </a:p>
          <a:p>
            <a:pPr indent="-33655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700"/>
              <a:buChar char="○"/>
            </a:pPr>
            <a:r>
              <a:rPr lang="en" sz="1700"/>
              <a:t> GPS tracking via cell phones or RFID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46873a7365_0_33"/>
          <p:cNvSpPr txBox="1"/>
          <p:nvPr>
            <p:ph type="title"/>
          </p:nvPr>
        </p:nvSpPr>
        <p:spPr>
          <a:xfrm>
            <a:off x="311700" y="62600"/>
            <a:ext cx="7692900" cy="523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r>
              <a:rPr b="1" lang="en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Children ( privacy and safety) </a:t>
            </a:r>
            <a:endParaRPr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9" name="Google Shape;169;g146873a7365_0_33"/>
          <p:cNvSpPr txBox="1"/>
          <p:nvPr>
            <p:ph idx="12" type="sldNum"/>
          </p:nvPr>
        </p:nvSpPr>
        <p:spPr>
          <a:xfrm>
            <a:off x="8137676" y="4583922"/>
            <a:ext cx="469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0" name="Google Shape;170;g146873a7365_0_33"/>
          <p:cNvSpPr/>
          <p:nvPr/>
        </p:nvSpPr>
        <p:spPr>
          <a:xfrm>
            <a:off x="5400675" y="2035975"/>
            <a:ext cx="760800" cy="12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146873a7365_0_33"/>
          <p:cNvSpPr txBox="1"/>
          <p:nvPr/>
        </p:nvSpPr>
        <p:spPr>
          <a:xfrm>
            <a:off x="835825" y="1146025"/>
            <a:ext cx="6643800" cy="29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00"/>
              <a:buChar char="➢"/>
            </a:pPr>
            <a:r>
              <a:rPr lang="en" sz="1700"/>
              <a:t>At what age does web monitoring become an invasion of the child’s privacy? </a:t>
            </a:r>
            <a:endParaRPr sz="1700"/>
          </a:p>
          <a:p>
            <a:pPr indent="-3365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00"/>
              <a:buChar char="➢"/>
            </a:pPr>
            <a:r>
              <a:rPr lang="en" sz="1700"/>
              <a:t> Should parents tell children about the tracking devices and services they are using? </a:t>
            </a:r>
            <a:endParaRPr sz="1700"/>
          </a:p>
          <a:p>
            <a:pPr indent="-3365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00"/>
              <a:buChar char="➢"/>
            </a:pPr>
            <a:r>
              <a:rPr lang="en" sz="1700"/>
              <a:t> Informed consent is a basic principle for adults. </a:t>
            </a:r>
            <a:endParaRPr sz="1700"/>
          </a:p>
          <a:p>
            <a:pPr indent="-3365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700"/>
              <a:buChar char="➢"/>
            </a:pPr>
            <a:r>
              <a:rPr lang="en" sz="1700"/>
              <a:t>At what age does it apply to children?  Will intense tracking and monitoring slow the development of a child’s responsible independence?  Will parents rely more on gadgets than on talking to their children? 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46873a7365_0_41"/>
          <p:cNvSpPr txBox="1"/>
          <p:nvPr>
            <p:ph type="title"/>
          </p:nvPr>
        </p:nvSpPr>
        <p:spPr>
          <a:xfrm>
            <a:off x="311700" y="62600"/>
            <a:ext cx="7692900" cy="523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</a:pPr>
            <a:r>
              <a:rPr b="1" lang="en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National ID System:</a:t>
            </a:r>
            <a:endParaRPr b="1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7" name="Google Shape;177;g146873a7365_0_41"/>
          <p:cNvSpPr txBox="1"/>
          <p:nvPr>
            <p:ph idx="12" type="sldNum"/>
          </p:nvPr>
        </p:nvSpPr>
        <p:spPr>
          <a:xfrm>
            <a:off x="8137676" y="4583922"/>
            <a:ext cx="469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8" name="Google Shape;178;g146873a7365_0_41"/>
          <p:cNvSpPr/>
          <p:nvPr/>
        </p:nvSpPr>
        <p:spPr>
          <a:xfrm>
            <a:off x="5400675" y="2035975"/>
            <a:ext cx="760800" cy="12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g146873a7365_0_41"/>
          <p:cNvSpPr txBox="1"/>
          <p:nvPr/>
        </p:nvSpPr>
        <p:spPr>
          <a:xfrm>
            <a:off x="1128350" y="963200"/>
            <a:ext cx="6757500" cy="3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00"/>
              <a:buChar char="➢"/>
            </a:pPr>
            <a:r>
              <a:rPr lang="en" sz="1700"/>
              <a:t>Social Security Numbers</a:t>
            </a:r>
            <a:endParaRPr sz="1700"/>
          </a:p>
          <a:p>
            <a:pPr indent="-33655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Too widely used</a:t>
            </a:r>
            <a:endParaRPr sz="1700"/>
          </a:p>
          <a:p>
            <a:pPr indent="-33655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Easy to falsify</a:t>
            </a:r>
            <a:endParaRPr sz="1700"/>
          </a:p>
          <a:p>
            <a:pPr indent="-3365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00"/>
              <a:buChar char="➢"/>
            </a:pPr>
            <a:r>
              <a:rPr lang="en" sz="1700"/>
              <a:t>A new national ID system - Pros</a:t>
            </a:r>
            <a:endParaRPr sz="1700"/>
          </a:p>
          <a:p>
            <a:pPr indent="-33655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 would require the card</a:t>
            </a:r>
            <a:endParaRPr sz="1700"/>
          </a:p>
          <a:p>
            <a:pPr indent="-33655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 harder to forge</a:t>
            </a:r>
            <a:endParaRPr sz="1700"/>
          </a:p>
          <a:p>
            <a:pPr indent="-33655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 have to carry only one card</a:t>
            </a:r>
            <a:endParaRPr sz="1700"/>
          </a:p>
          <a:p>
            <a:pPr indent="-3365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00"/>
              <a:buChar char="➢"/>
            </a:pPr>
            <a:r>
              <a:rPr lang="en" sz="1700"/>
              <a:t>A new national ID system - Cons</a:t>
            </a:r>
            <a:endParaRPr sz="1700"/>
          </a:p>
          <a:p>
            <a:pPr indent="-33655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Threat to freedom and privacy</a:t>
            </a:r>
            <a:endParaRPr sz="1700"/>
          </a:p>
          <a:p>
            <a:pPr indent="-33655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700"/>
              <a:buChar char="○"/>
            </a:pPr>
            <a:r>
              <a:rPr lang="en" sz="1700"/>
              <a:t> Increased potential for abuse</a:t>
            </a:r>
            <a:endParaRPr sz="17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3fbedf9817_1_0"/>
          <p:cNvSpPr txBox="1"/>
          <p:nvPr>
            <p:ph idx="12" type="sldNum"/>
          </p:nvPr>
        </p:nvSpPr>
        <p:spPr>
          <a:xfrm>
            <a:off x="8137676" y="4583922"/>
            <a:ext cx="469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g13fbedf9817_1_0"/>
          <p:cNvSpPr/>
          <p:nvPr/>
        </p:nvSpPr>
        <p:spPr>
          <a:xfrm>
            <a:off x="5400675" y="2035975"/>
            <a:ext cx="760800" cy="12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g13fbedf9817_1_0"/>
          <p:cNvSpPr/>
          <p:nvPr/>
        </p:nvSpPr>
        <p:spPr>
          <a:xfrm>
            <a:off x="1176600" y="1740525"/>
            <a:ext cx="6790800" cy="1535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chemeClr val="accent3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i="0" lang="en" sz="39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1" i="0" sz="39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