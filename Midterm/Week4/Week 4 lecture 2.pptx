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0" roundtripDataSignature="AMtx7mgVW+n/tqmvu5PMYdVX7jfmD1pHq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Syada Tasmia Al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slideMaster" Target="slideMasters/slideMaster1.xml"/><Relationship Id="rId19" Type="http://schemas.openxmlformats.org/officeDocument/2006/relationships/font" Target="fonts/Roboto-boldItalic.fntdata"/><Relationship Id="rId6" Type="http://schemas.openxmlformats.org/officeDocument/2006/relationships/notesMaster" Target="notesMasters/notesMaster1.xml"/><Relationship Id="rId18"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9-06T18:43:27.063">
    <p:pos x="6000" y="0"/>
    <p:text>ISPs filter out email from known spammers,
so many disguise the source and use other schemes to avoid filters.
Criminal spammers hijack large numbers of computers by spreading viruses that allow
the spammer to send huge amounts of spam from the infected machines, called “zombies.”</p:text>
    <p:extLst>
      <p:ext uri="{C676402C-5697-4E1C-873F-D02D1690AC5C}">
        <p15:threadingInfo timeZoneBias="0"/>
      </p:ext>
      <p:ext uri="http://customooxmlschemas.google.com/">
        <go:slidesCustomData xmlns:go="http://customooxmlschemas.google.com/" commentPostId="AAAAfKzTnz8"/>
      </p:ext>
    </p:extLst>
  </p:cm>
  <p:cm authorId="0" idx="2" dt="2022-09-06T18:29:46.134">
    <p:pos x="6000" y="100"/>
    <p:text>Most, but not all, spam is
commercial advertising. Spam developed because email is extremely cheap compared to
printed direct-mail advertising. Some businesses and organizations compile or buy huge
lists of email addresses and send their unsolicited messages. Some build lists by using
automated</p:text>
    <p:extLst>
      <p:ext uri="{C676402C-5697-4E1C-873F-D02D1690AC5C}">
        <p15:threadingInfo timeZoneBias="0"/>
      </p:ext>
      <p:ext uri="http://customooxmlschemas.google.com/">
        <go:slidesCustomData xmlns:go="http://customooxmlschemas.google.com/" commentPostId="AAAAfKzTnz4"/>
      </p:ext>
    </p:extLst>
  </p:cm>
  <p:cm authorId="0" idx="3" dt="2022-09-06T18:17:44.300">
    <p:pos x="6000" y="200"/>
    <p:text>The term spam, in the context of electronic communications, was adopted in the 1990s to mean unsolicited bulk email. It now applies to text messages, tweets, and phone
calls as well.</p:text>
    <p:extLst>
      <p:ext uri="{C676402C-5697-4E1C-873F-D02D1690AC5C}">
        <p15:threadingInfo timeZoneBias="0"/>
      </p:ext>
      <p:ext uri="http://customooxmlschemas.google.com/">
        <go:slidesCustomData xmlns:go="http://customooxmlschemas.google.com/" commentPostId="AAAAfKzTnz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53bce24d83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153bce24d8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537bf11246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g1537bf11246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12cd06712c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g112cd06712c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53bf851959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g153bf851959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53bf851959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153bf85195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45f17dee8c_1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145f17dee8c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4732661473_0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14732661473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3fbedf9817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13fbedf981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9" name="Shape 9"/>
        <p:cNvGrpSpPr/>
        <p:nvPr/>
      </p:nvGrpSpPr>
      <p:grpSpPr>
        <a:xfrm>
          <a:off x="0" y="0"/>
          <a:ext cx="0" cy="0"/>
          <a:chOff x="0" y="0"/>
          <a:chExt cx="0" cy="0"/>
        </a:xfrm>
      </p:grpSpPr>
      <p:sp>
        <p:nvSpPr>
          <p:cNvPr id="10" name="Google Shape;10;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6" name="Shape 26"/>
        <p:cNvGrpSpPr/>
        <p:nvPr/>
      </p:nvGrpSpPr>
      <p:grpSpPr>
        <a:xfrm>
          <a:off x="0" y="0"/>
          <a:ext cx="0" cy="0"/>
          <a:chOff x="0" y="0"/>
          <a:chExt cx="0" cy="0"/>
        </a:xfrm>
      </p:grpSpPr>
      <p:sp>
        <p:nvSpPr>
          <p:cNvPr id="27" name="Google Shape;27;g112cd06712c_0_1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g112cd06712c_0_1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 name="Google Shape;29;g112cd06712c_0_1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0" name="Google Shape;30;g112cd06712c_0_1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g112cd06712c_0_1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7" name="Shape 37"/>
        <p:cNvGrpSpPr/>
        <p:nvPr/>
      </p:nvGrpSpPr>
      <p:grpSpPr>
        <a:xfrm>
          <a:off x="0" y="0"/>
          <a:ext cx="0" cy="0"/>
          <a:chOff x="0" y="0"/>
          <a:chExt cx="0" cy="0"/>
        </a:xfrm>
      </p:grpSpPr>
      <p:sp>
        <p:nvSpPr>
          <p:cNvPr id="38" name="Google Shape;38;gf59b91e696_0_41"/>
          <p:cNvSpPr txBox="1"/>
          <p:nvPr>
            <p:ph type="title"/>
          </p:nvPr>
        </p:nvSpPr>
        <p:spPr>
          <a:xfrm>
            <a:off x="967739" y="-11430"/>
            <a:ext cx="7200900" cy="1069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4600">
                <a:solidFill>
                  <a:srgbClr val="2B7B9E"/>
                </a:solidFill>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gf59b91e696_0_41"/>
          <p:cNvSpPr txBox="1"/>
          <p:nvPr>
            <p:ph idx="1" type="body"/>
          </p:nvPr>
        </p:nvSpPr>
        <p:spPr>
          <a:xfrm>
            <a:off x="628650" y="1038987"/>
            <a:ext cx="5144100" cy="31356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0" i="0" sz="2400">
                <a:solidFill>
                  <a:srgbClr val="585858"/>
                </a:solidFill>
                <a:latin typeface="Calibri"/>
                <a:ea typeface="Calibri"/>
                <a:cs typeface="Calibri"/>
                <a:sym typeface="Calibri"/>
              </a:defRPr>
            </a:lvl1pPr>
            <a:lvl2pPr indent="-228600" lvl="1" marL="914400" algn="l">
              <a:lnSpc>
                <a:spcPct val="115000"/>
              </a:lnSpc>
              <a:spcBef>
                <a:spcPts val="0"/>
              </a:spcBef>
              <a:spcAft>
                <a:spcPts val="0"/>
              </a:spcAft>
              <a:buSzPts val="1400"/>
              <a:buNone/>
              <a:defRPr/>
            </a:lvl2pPr>
            <a:lvl3pPr indent="-228600" lvl="2" marL="1371600" algn="l">
              <a:lnSpc>
                <a:spcPct val="115000"/>
              </a:lnSpc>
              <a:spcBef>
                <a:spcPts val="0"/>
              </a:spcBef>
              <a:spcAft>
                <a:spcPts val="0"/>
              </a:spcAft>
              <a:buSzPts val="1400"/>
              <a:buNone/>
              <a:defRPr/>
            </a:lvl3pPr>
            <a:lvl4pPr indent="-228600" lvl="3" marL="1828800" algn="l">
              <a:lnSpc>
                <a:spcPct val="115000"/>
              </a:lnSpc>
              <a:spcBef>
                <a:spcPts val="0"/>
              </a:spcBef>
              <a:spcAft>
                <a:spcPts val="0"/>
              </a:spcAft>
              <a:buSzPts val="1400"/>
              <a:buNone/>
              <a:defRPr/>
            </a:lvl4pPr>
            <a:lvl5pPr indent="-228600" lvl="4" marL="2286000" algn="l">
              <a:lnSpc>
                <a:spcPct val="115000"/>
              </a:lnSpc>
              <a:spcBef>
                <a:spcPts val="0"/>
              </a:spcBef>
              <a:spcAft>
                <a:spcPts val="0"/>
              </a:spcAft>
              <a:buSzPts val="1400"/>
              <a:buNone/>
              <a:defRPr/>
            </a:lvl5pPr>
            <a:lvl6pPr indent="-228600" lvl="5" marL="2743200" algn="l">
              <a:lnSpc>
                <a:spcPct val="115000"/>
              </a:lnSpc>
              <a:spcBef>
                <a:spcPts val="0"/>
              </a:spcBef>
              <a:spcAft>
                <a:spcPts val="0"/>
              </a:spcAft>
              <a:buSzPts val="1400"/>
              <a:buNone/>
              <a:defRPr/>
            </a:lvl6pPr>
            <a:lvl7pPr indent="-228600" lvl="6" marL="3200400" algn="l">
              <a:lnSpc>
                <a:spcPct val="115000"/>
              </a:lnSpc>
              <a:spcBef>
                <a:spcPts val="0"/>
              </a:spcBef>
              <a:spcAft>
                <a:spcPts val="0"/>
              </a:spcAft>
              <a:buSzPts val="1400"/>
              <a:buNone/>
              <a:defRPr/>
            </a:lvl7pPr>
            <a:lvl8pPr indent="-228600" lvl="7" marL="3657600" algn="l">
              <a:lnSpc>
                <a:spcPct val="115000"/>
              </a:lnSpc>
              <a:spcBef>
                <a:spcPts val="0"/>
              </a:spcBef>
              <a:spcAft>
                <a:spcPts val="0"/>
              </a:spcAft>
              <a:buSzPts val="1400"/>
              <a:buNone/>
              <a:defRPr/>
            </a:lvl8pPr>
            <a:lvl9pPr indent="-228600" lvl="8" marL="4114800" algn="l">
              <a:lnSpc>
                <a:spcPct val="115000"/>
              </a:lnSpc>
              <a:spcBef>
                <a:spcPts val="0"/>
              </a:spcBef>
              <a:spcAft>
                <a:spcPts val="0"/>
              </a:spcAft>
              <a:buSzPts val="1400"/>
              <a:buNone/>
              <a:defRPr/>
            </a:lvl9pPr>
          </a:lstStyle>
          <a:p/>
        </p:txBody>
      </p:sp>
      <p:sp>
        <p:nvSpPr>
          <p:cNvPr id="40" name="Google Shape;40;gf59b91e696_0_41"/>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gf59b91e696_0_4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gf59b91e696_0_41"/>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800">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3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5" name="Google Shape;45;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 name="Google Shape;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4" name="Google Shape;54;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6" name="Google Shape;5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9" name="Google Shape;5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2" name="Google Shape;62;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3" name="Google Shape;6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64" name="Shape 64"/>
        <p:cNvGrpSpPr/>
        <p:nvPr/>
      </p:nvGrpSpPr>
      <p:grpSpPr>
        <a:xfrm>
          <a:off x="0" y="0"/>
          <a:ext cx="0" cy="0"/>
          <a:chOff x="0" y="0"/>
          <a:chExt cx="0" cy="0"/>
        </a:xfrm>
      </p:grpSpPr>
      <p:sp>
        <p:nvSpPr>
          <p:cNvPr id="65" name="Google Shape;65;p38"/>
          <p:cNvSpPr/>
          <p:nvPr/>
        </p:nvSpPr>
        <p:spPr>
          <a:xfrm>
            <a:off x="9" y="-962172"/>
            <a:ext cx="9233805" cy="6330149"/>
          </a:xfrm>
          <a:custGeom>
            <a:rect b="b" l="l" r="r" t="t"/>
            <a:pathLst>
              <a:path extrusionOk="0" h="72886" w="106319">
                <a:moveTo>
                  <a:pt x="98047" y="17578"/>
                </a:moveTo>
                <a:cubicBezTo>
                  <a:pt x="90726" y="25294"/>
                  <a:pt x="78229" y="26537"/>
                  <a:pt x="85120" y="17578"/>
                </a:cubicBezTo>
                <a:cubicBezTo>
                  <a:pt x="89094" y="12414"/>
                  <a:pt x="90660" y="5194"/>
                  <a:pt x="91276" y="1"/>
                </a:cubicBezTo>
                <a:lnTo>
                  <a:pt x="0" y="1"/>
                </a:lnTo>
                <a:lnTo>
                  <a:pt x="0" y="64267"/>
                </a:lnTo>
                <a:cubicBezTo>
                  <a:pt x="1853" y="61996"/>
                  <a:pt x="5128" y="58082"/>
                  <a:pt x="7238" y="50485"/>
                </a:cubicBezTo>
                <a:cubicBezTo>
                  <a:pt x="12754" y="30673"/>
                  <a:pt x="28951" y="29985"/>
                  <a:pt x="35083" y="37217"/>
                </a:cubicBezTo>
                <a:cubicBezTo>
                  <a:pt x="41980" y="45357"/>
                  <a:pt x="33105" y="66114"/>
                  <a:pt x="48531" y="72886"/>
                </a:cubicBezTo>
                <a:lnTo>
                  <a:pt x="106319" y="72886"/>
                </a:lnTo>
                <a:lnTo>
                  <a:pt x="106319" y="1"/>
                </a:lnTo>
                <a:lnTo>
                  <a:pt x="105877" y="1"/>
                </a:lnTo>
                <a:cubicBezTo>
                  <a:pt x="105106" y="4399"/>
                  <a:pt x="103086" y="12271"/>
                  <a:pt x="98047" y="17578"/>
                </a:cubicBezTo>
                <a:close/>
              </a:path>
            </a:pathLst>
          </a:custGeom>
          <a:gradFill>
            <a:gsLst>
              <a:gs pos="0">
                <a:srgbClr val="FFFEFE"/>
              </a:gs>
              <a:gs pos="65000">
                <a:srgbClr val="ECECEC"/>
              </a:gs>
              <a:gs pos="100000">
                <a:schemeClr val="accent3"/>
              </a:gs>
            </a:gsLst>
            <a:lin ang="5400700" scaled="0"/>
          </a:gradFill>
          <a:ln>
            <a:noFill/>
          </a:ln>
          <a:effectLst>
            <a:outerShdw blurRad="57150" rotWithShape="0" algn="bl" dist="19050">
              <a:srgbClr val="B7B7B7">
                <a:alpha val="6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 name="Google Shape;66;p38"/>
          <p:cNvGrpSpPr/>
          <p:nvPr/>
        </p:nvGrpSpPr>
        <p:grpSpPr>
          <a:xfrm>
            <a:off x="3247824" y="-408375"/>
            <a:ext cx="5985963" cy="5776828"/>
            <a:chOff x="2407800" y="3054100"/>
            <a:chExt cx="1723075" cy="1662875"/>
          </a:xfrm>
        </p:grpSpPr>
        <p:sp>
          <p:nvSpPr>
            <p:cNvPr id="67" name="Google Shape;67;p38"/>
            <p:cNvSpPr/>
            <p:nvPr/>
          </p:nvSpPr>
          <p:spPr>
            <a:xfrm>
              <a:off x="2407800" y="3054100"/>
              <a:ext cx="1723075" cy="1662725"/>
            </a:xfrm>
            <a:custGeom>
              <a:rect b="b" l="l" r="r" t="t"/>
              <a:pathLst>
                <a:path extrusionOk="0"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lnTo>
                    <a:pt x="68923" y="66509"/>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5400000" dist="19050">
                <a:srgbClr val="999999">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8"/>
            <p:cNvSpPr/>
            <p:nvPr/>
          </p:nvSpPr>
          <p:spPr>
            <a:xfrm>
              <a:off x="2584850" y="3364300"/>
              <a:ext cx="1546025" cy="1352675"/>
            </a:xfrm>
            <a:custGeom>
              <a:rect b="b" l="l" r="r" t="t"/>
              <a:pathLst>
                <a:path extrusionOk="0" h="54107" w="61841">
                  <a:moveTo>
                    <a:pt x="61841" y="0"/>
                  </a:moveTo>
                  <a:cubicBezTo>
                    <a:pt x="61841" y="0"/>
                    <a:pt x="58566" y="8439"/>
                    <a:pt x="40815" y="11888"/>
                  </a:cubicBezTo>
                  <a:cubicBezTo>
                    <a:pt x="23070" y="15336"/>
                    <a:pt x="7943" y="12426"/>
                    <a:pt x="4118" y="27050"/>
                  </a:cubicBezTo>
                  <a:cubicBezTo>
                    <a:pt x="0" y="42781"/>
                    <a:pt x="17554" y="54107"/>
                    <a:pt x="17554" y="54107"/>
                  </a:cubicBezTo>
                  <a:lnTo>
                    <a:pt x="61841" y="54107"/>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039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8"/>
            <p:cNvSpPr/>
            <p:nvPr/>
          </p:nvSpPr>
          <p:spPr>
            <a:xfrm>
              <a:off x="2799700" y="3644300"/>
              <a:ext cx="1331175" cy="1072525"/>
            </a:xfrm>
            <a:custGeom>
              <a:rect b="b" l="l" r="r" t="t"/>
              <a:pathLst>
                <a:path extrusionOk="0" h="42901" w="53247">
                  <a:moveTo>
                    <a:pt x="53247" y="0"/>
                  </a:moveTo>
                  <a:cubicBezTo>
                    <a:pt x="53247" y="0"/>
                    <a:pt x="49625" y="4363"/>
                    <a:pt x="32568" y="5021"/>
                  </a:cubicBezTo>
                  <a:cubicBezTo>
                    <a:pt x="15510" y="5684"/>
                    <a:pt x="3790" y="6270"/>
                    <a:pt x="1895" y="19502"/>
                  </a:cubicBezTo>
                  <a:cubicBezTo>
                    <a:pt x="1" y="32734"/>
                    <a:pt x="10687" y="42901"/>
                    <a:pt x="10687" y="42901"/>
                  </a:cubicBezTo>
                  <a:lnTo>
                    <a:pt x="53247" y="4290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039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8"/>
            <p:cNvSpPr/>
            <p:nvPr/>
          </p:nvSpPr>
          <p:spPr>
            <a:xfrm>
              <a:off x="2799700" y="3644300"/>
              <a:ext cx="1331175" cy="1072525"/>
            </a:xfrm>
            <a:custGeom>
              <a:rect b="b" l="l" r="r" t="t"/>
              <a:pathLst>
                <a:path extrusionOk="0" fill="none" h="42901" w="53247">
                  <a:moveTo>
                    <a:pt x="53247" y="0"/>
                  </a:moveTo>
                  <a:cubicBezTo>
                    <a:pt x="53247" y="0"/>
                    <a:pt x="49625" y="4363"/>
                    <a:pt x="32568" y="5021"/>
                  </a:cubicBezTo>
                  <a:cubicBezTo>
                    <a:pt x="15510" y="5684"/>
                    <a:pt x="3790" y="6270"/>
                    <a:pt x="1895" y="19502"/>
                  </a:cubicBezTo>
                  <a:cubicBezTo>
                    <a:pt x="1" y="32734"/>
                    <a:pt x="10687" y="42901"/>
                    <a:pt x="10687" y="4290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8"/>
            <p:cNvSpPr/>
            <p:nvPr/>
          </p:nvSpPr>
          <p:spPr>
            <a:xfrm>
              <a:off x="2584850" y="3364300"/>
              <a:ext cx="1546025" cy="1352675"/>
            </a:xfrm>
            <a:custGeom>
              <a:rect b="b" l="l" r="r" t="t"/>
              <a:pathLst>
                <a:path extrusionOk="0" fill="none" h="54107" w="61841">
                  <a:moveTo>
                    <a:pt x="61841" y="0"/>
                  </a:moveTo>
                  <a:cubicBezTo>
                    <a:pt x="61841" y="0"/>
                    <a:pt x="58566" y="8439"/>
                    <a:pt x="40815" y="11888"/>
                  </a:cubicBezTo>
                  <a:cubicBezTo>
                    <a:pt x="23070" y="15336"/>
                    <a:pt x="7943" y="12426"/>
                    <a:pt x="4118" y="27050"/>
                  </a:cubicBezTo>
                  <a:cubicBezTo>
                    <a:pt x="0" y="42781"/>
                    <a:pt x="17554" y="54107"/>
                    <a:pt x="17554" y="54107"/>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8"/>
            <p:cNvSpPr/>
            <p:nvPr/>
          </p:nvSpPr>
          <p:spPr>
            <a:xfrm>
              <a:off x="2407800" y="3054100"/>
              <a:ext cx="1723075" cy="1662725"/>
            </a:xfrm>
            <a:custGeom>
              <a:rect b="b" l="l" r="r" t="t"/>
              <a:pathLst>
                <a:path extrusionOk="0" fill="none"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38"/>
          <p:cNvGrpSpPr/>
          <p:nvPr/>
        </p:nvGrpSpPr>
        <p:grpSpPr>
          <a:xfrm>
            <a:off x="-17" y="-962218"/>
            <a:ext cx="7767430" cy="4298033"/>
            <a:chOff x="1472900" y="2894675"/>
            <a:chExt cx="2235875" cy="1237200"/>
          </a:xfrm>
        </p:grpSpPr>
        <p:sp>
          <p:nvSpPr>
            <p:cNvPr id="74" name="Google Shape;74;p38"/>
            <p:cNvSpPr/>
            <p:nvPr/>
          </p:nvSpPr>
          <p:spPr>
            <a:xfrm>
              <a:off x="1472900" y="2894675"/>
              <a:ext cx="2235875" cy="1237200"/>
            </a:xfrm>
            <a:custGeom>
              <a:rect b="b" l="l" r="r" t="t"/>
              <a:pathLst>
                <a:path extrusionOk="0" h="49488" w="89435">
                  <a:moveTo>
                    <a:pt x="0" y="49487"/>
                  </a:moveTo>
                  <a:cubicBezTo>
                    <a:pt x="0" y="49487"/>
                    <a:pt x="4190" y="33691"/>
                    <a:pt x="19992" y="27224"/>
                  </a:cubicBezTo>
                  <a:cubicBezTo>
                    <a:pt x="38944" y="19473"/>
                    <a:pt x="46331" y="28665"/>
                    <a:pt x="65827" y="23608"/>
                  </a:cubicBezTo>
                  <a:cubicBezTo>
                    <a:pt x="85317" y="18546"/>
                    <a:pt x="89435" y="1"/>
                    <a:pt x="89435" y="1"/>
                  </a:cubicBezTo>
                  <a:lnTo>
                    <a:pt x="6"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8820000" dist="19050">
                <a:srgbClr val="B7B7B7">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8"/>
            <p:cNvSpPr/>
            <p:nvPr/>
          </p:nvSpPr>
          <p:spPr>
            <a:xfrm>
              <a:off x="1472900" y="2894675"/>
              <a:ext cx="1990250" cy="1016650"/>
            </a:xfrm>
            <a:custGeom>
              <a:rect b="b" l="l" r="r" t="t"/>
              <a:pathLst>
                <a:path extrusionOk="0" h="40666" w="79610">
                  <a:moveTo>
                    <a:pt x="0" y="40666"/>
                  </a:moveTo>
                  <a:cubicBezTo>
                    <a:pt x="0" y="40666"/>
                    <a:pt x="2743" y="28975"/>
                    <a:pt x="17410" y="23608"/>
                  </a:cubicBezTo>
                  <a:cubicBezTo>
                    <a:pt x="31109" y="18594"/>
                    <a:pt x="41508" y="24887"/>
                    <a:pt x="59342" y="20261"/>
                  </a:cubicBezTo>
                  <a:cubicBezTo>
                    <a:pt x="77177" y="15630"/>
                    <a:pt x="79609" y="1"/>
                    <a:pt x="79609"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6600000" dist="19050">
                <a:srgbClr val="B7B7B7">
                  <a:alpha val="4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8"/>
            <p:cNvSpPr/>
            <p:nvPr/>
          </p:nvSpPr>
          <p:spPr>
            <a:xfrm>
              <a:off x="1472900" y="2894675"/>
              <a:ext cx="1754175" cy="766825"/>
            </a:xfrm>
            <a:custGeom>
              <a:rect b="b" l="l" r="r" t="t"/>
              <a:pathLst>
                <a:path extrusionOk="0" h="30673" w="70167">
                  <a:moveTo>
                    <a:pt x="0" y="30673"/>
                  </a:moveTo>
                  <a:cubicBezTo>
                    <a:pt x="0" y="30673"/>
                    <a:pt x="4136" y="22228"/>
                    <a:pt x="16436" y="18953"/>
                  </a:cubicBezTo>
                  <a:cubicBezTo>
                    <a:pt x="28443" y="15761"/>
                    <a:pt x="35352" y="21194"/>
                    <a:pt x="50539" y="17255"/>
                  </a:cubicBezTo>
                  <a:cubicBezTo>
                    <a:pt x="65725" y="13311"/>
                    <a:pt x="70166" y="1"/>
                    <a:pt x="70166"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2580000" dist="19050">
                <a:srgbClr val="D9D9D9">
                  <a:alpha val="4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8"/>
            <p:cNvSpPr/>
            <p:nvPr/>
          </p:nvSpPr>
          <p:spPr>
            <a:xfrm>
              <a:off x="1472900" y="2894675"/>
              <a:ext cx="1754175" cy="766825"/>
            </a:xfrm>
            <a:custGeom>
              <a:rect b="b" l="l" r="r" t="t"/>
              <a:pathLst>
                <a:path extrusionOk="0" fill="none" h="30673" w="70167">
                  <a:moveTo>
                    <a:pt x="0" y="30673"/>
                  </a:moveTo>
                  <a:cubicBezTo>
                    <a:pt x="0" y="30673"/>
                    <a:pt x="4136" y="22228"/>
                    <a:pt x="16436" y="18953"/>
                  </a:cubicBezTo>
                  <a:cubicBezTo>
                    <a:pt x="28443" y="15761"/>
                    <a:pt x="35352" y="21194"/>
                    <a:pt x="50539" y="17255"/>
                  </a:cubicBezTo>
                  <a:cubicBezTo>
                    <a:pt x="65725" y="13311"/>
                    <a:pt x="70166" y="1"/>
                    <a:pt x="70166"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8"/>
            <p:cNvSpPr/>
            <p:nvPr/>
          </p:nvSpPr>
          <p:spPr>
            <a:xfrm>
              <a:off x="1472900" y="2894675"/>
              <a:ext cx="1990250" cy="1016650"/>
            </a:xfrm>
            <a:custGeom>
              <a:rect b="b" l="l" r="r" t="t"/>
              <a:pathLst>
                <a:path extrusionOk="0" fill="none" h="40666" w="79610">
                  <a:moveTo>
                    <a:pt x="0" y="40666"/>
                  </a:moveTo>
                  <a:cubicBezTo>
                    <a:pt x="0" y="40666"/>
                    <a:pt x="2743" y="28975"/>
                    <a:pt x="17410" y="23608"/>
                  </a:cubicBezTo>
                  <a:cubicBezTo>
                    <a:pt x="31109" y="18594"/>
                    <a:pt x="41508" y="24887"/>
                    <a:pt x="59342" y="20261"/>
                  </a:cubicBezTo>
                  <a:cubicBezTo>
                    <a:pt x="77177" y="15630"/>
                    <a:pt x="79609" y="1"/>
                    <a:pt x="79609"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8"/>
            <p:cNvSpPr/>
            <p:nvPr/>
          </p:nvSpPr>
          <p:spPr>
            <a:xfrm>
              <a:off x="1472900" y="2894675"/>
              <a:ext cx="2235875" cy="1237200"/>
            </a:xfrm>
            <a:custGeom>
              <a:rect b="b" l="l" r="r" t="t"/>
              <a:pathLst>
                <a:path extrusionOk="0" fill="none" h="49488" w="89435">
                  <a:moveTo>
                    <a:pt x="0" y="49487"/>
                  </a:moveTo>
                  <a:cubicBezTo>
                    <a:pt x="0" y="49487"/>
                    <a:pt x="4190" y="33691"/>
                    <a:pt x="19992" y="27224"/>
                  </a:cubicBezTo>
                  <a:cubicBezTo>
                    <a:pt x="38944" y="19473"/>
                    <a:pt x="46331" y="28665"/>
                    <a:pt x="65827" y="23608"/>
                  </a:cubicBezTo>
                  <a:cubicBezTo>
                    <a:pt x="85317" y="18546"/>
                    <a:pt x="89435" y="1"/>
                    <a:pt x="89435"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38"/>
          <p:cNvSpPr/>
          <p:nvPr/>
        </p:nvSpPr>
        <p:spPr>
          <a:xfrm>
            <a:off x="720000" y="995250"/>
            <a:ext cx="3706500" cy="3153000"/>
          </a:xfrm>
          <a:prstGeom prst="roundRect">
            <a:avLst>
              <a:gd fmla="val 8467" name="adj"/>
            </a:avLst>
          </a:prstGeom>
          <a:solidFill>
            <a:schemeClr val="lt2"/>
          </a:solidFill>
          <a:ln>
            <a:noFill/>
          </a:ln>
          <a:effectLst>
            <a:outerShdw blurRad="185738" rotWithShape="0" algn="bl" dir="6120000" dist="66675">
              <a:srgbClr val="999999">
                <a:alpha val="509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8"/>
          <p:cNvSpPr txBox="1"/>
          <p:nvPr>
            <p:ph type="title"/>
          </p:nvPr>
        </p:nvSpPr>
        <p:spPr>
          <a:xfrm>
            <a:off x="1169275" y="1377288"/>
            <a:ext cx="2808000" cy="46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2" name="Google Shape;82;p38"/>
          <p:cNvSpPr txBox="1"/>
          <p:nvPr>
            <p:ph idx="1" type="subTitle"/>
          </p:nvPr>
        </p:nvSpPr>
        <p:spPr>
          <a:xfrm>
            <a:off x="1169275" y="1948813"/>
            <a:ext cx="2808000" cy="18174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chemeClr val="dk1"/>
              </a:buClr>
              <a:buSzPts val="20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3" name="Google Shape;8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84" name="Shape 84"/>
        <p:cNvGrpSpPr/>
        <p:nvPr/>
      </p:nvGrpSpPr>
      <p:grpSpPr>
        <a:xfrm>
          <a:off x="0" y="0"/>
          <a:ext cx="0" cy="0"/>
          <a:chOff x="0" y="0"/>
          <a:chExt cx="0" cy="0"/>
        </a:xfrm>
      </p:grpSpPr>
      <p:sp>
        <p:nvSpPr>
          <p:cNvPr id="85" name="Google Shape;85;p39"/>
          <p:cNvSpPr txBox="1"/>
          <p:nvPr>
            <p:ph idx="1" type="body"/>
          </p:nvPr>
        </p:nvSpPr>
        <p:spPr>
          <a:xfrm>
            <a:off x="387819" y="730530"/>
            <a:ext cx="8368500" cy="173400"/>
          </a:xfrm>
          <a:prstGeom prst="rect">
            <a:avLst/>
          </a:prstGeom>
          <a:noFill/>
          <a:ln>
            <a:noFill/>
          </a:ln>
        </p:spPr>
        <p:txBody>
          <a:bodyPr anchorCtr="0" anchor="ctr" bIns="0" lIns="0" spcFirstLastPara="1" rIns="0" wrap="square" tIns="0">
            <a:normAutofit/>
          </a:bodyPr>
          <a:lstStyle>
            <a:lvl1pPr indent="-228600" lvl="0" marL="457200" marR="0" algn="l">
              <a:lnSpc>
                <a:spcPct val="115000"/>
              </a:lnSpc>
              <a:spcBef>
                <a:spcPts val="220"/>
              </a:spcBef>
              <a:spcAft>
                <a:spcPts val="0"/>
              </a:spcAft>
              <a:buClr>
                <a:srgbClr val="7F7F7F"/>
              </a:buClr>
              <a:buSzPts val="1100"/>
              <a:buFont typeface="Arial"/>
              <a:buNone/>
              <a:defRPr b="0" i="0" sz="1100" u="none" cap="none" strike="noStrike">
                <a:solidFill>
                  <a:srgbClr val="7F7F7F"/>
                </a:solidFill>
                <a:latin typeface="Roboto"/>
                <a:ea typeface="Roboto"/>
                <a:cs typeface="Roboto"/>
                <a:sym typeface="Roboto"/>
              </a:defRPr>
            </a:lvl1pPr>
            <a:lvl2pPr indent="-228600" lvl="1" marL="914400" marR="0" algn="l">
              <a:lnSpc>
                <a:spcPct val="115000"/>
              </a:lnSpc>
              <a:spcBef>
                <a:spcPts val="12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2pPr>
            <a:lvl3pPr indent="-228600" lvl="2" marL="1371600" marR="0" algn="l">
              <a:lnSpc>
                <a:spcPct val="115000"/>
              </a:lnSpc>
              <a:spcBef>
                <a:spcPts val="1200"/>
              </a:spcBef>
              <a:spcAft>
                <a:spcPts val="0"/>
              </a:spcAft>
              <a:buClr>
                <a:schemeClr val="dk1"/>
              </a:buClr>
              <a:buSzPts val="1000"/>
              <a:buFont typeface="Arial"/>
              <a:buNone/>
              <a:defRPr b="0" i="0" sz="1000" u="none" cap="none" strike="noStrike">
                <a:solidFill>
                  <a:schemeClr val="dk1"/>
                </a:solidFill>
                <a:latin typeface="Roboto"/>
                <a:ea typeface="Roboto"/>
                <a:cs typeface="Roboto"/>
                <a:sym typeface="Roboto"/>
              </a:defRPr>
            </a:lvl3pPr>
            <a:lvl4pPr indent="-228600" lvl="3" marL="18288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4pPr>
            <a:lvl5pPr indent="-228600" lvl="4" marL="22860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5pPr>
            <a:lvl6pPr indent="-228600" lvl="5" marL="27432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6pPr>
            <a:lvl7pPr indent="-228600" lvl="6" marL="32004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7pPr>
            <a:lvl8pPr indent="-228600" lvl="7" marL="36576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8pPr>
            <a:lvl9pPr indent="-228600" lvl="8" marL="4114800" marR="0" algn="l">
              <a:lnSpc>
                <a:spcPct val="115000"/>
              </a:lnSpc>
              <a:spcBef>
                <a:spcPts val="1200"/>
              </a:spcBef>
              <a:spcAft>
                <a:spcPts val="1200"/>
              </a:spcAft>
              <a:buClr>
                <a:schemeClr val="dk1"/>
              </a:buClr>
              <a:buSzPts val="900"/>
              <a:buFont typeface="Arial"/>
              <a:buNone/>
              <a:defRPr b="0" i="0" sz="900" u="none" cap="none" strike="noStrike">
                <a:solidFill>
                  <a:schemeClr val="dk1"/>
                </a:solidFill>
                <a:latin typeface="Roboto"/>
                <a:ea typeface="Roboto"/>
                <a:cs typeface="Roboto"/>
                <a:sym typeface="Roboto"/>
              </a:defRPr>
            </a:lvl9pPr>
          </a:lstStyle>
          <a:p/>
        </p:txBody>
      </p:sp>
      <p:sp>
        <p:nvSpPr>
          <p:cNvPr id="86" name="Google Shape;86;p39"/>
          <p:cNvSpPr txBox="1"/>
          <p:nvPr>
            <p:ph type="title"/>
          </p:nvPr>
        </p:nvSpPr>
        <p:spPr>
          <a:xfrm>
            <a:off x="387819" y="282611"/>
            <a:ext cx="8368500" cy="409500"/>
          </a:xfrm>
          <a:prstGeom prst="rect">
            <a:avLst/>
          </a:prstGeom>
          <a:noFill/>
          <a:ln>
            <a:noFill/>
          </a:ln>
        </p:spPr>
        <p:txBody>
          <a:bodyPr anchorCtr="0" anchor="ctr" bIns="0" lIns="0" spcFirstLastPara="1" rIns="0" wrap="square" tIns="0">
            <a:normAutofit/>
          </a:bodyPr>
          <a:lstStyle>
            <a:lvl1pPr lvl="0" marR="0" algn="l">
              <a:lnSpc>
                <a:spcPct val="100000"/>
              </a:lnSpc>
              <a:spcBef>
                <a:spcPts val="0"/>
              </a:spcBef>
              <a:spcAft>
                <a:spcPts val="0"/>
              </a:spcAft>
              <a:buClr>
                <a:srgbClr val="5B5B5B"/>
              </a:buClr>
              <a:buSzPts val="2800"/>
              <a:buFont typeface="Roboto"/>
              <a:buNone/>
              <a:defRPr b="0" i="0" sz="28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87" name="Google Shape;87;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88" name="Shape 88"/>
        <p:cNvGrpSpPr/>
        <p:nvPr/>
      </p:nvGrpSpPr>
      <p:grpSpPr>
        <a:xfrm>
          <a:off x="0" y="0"/>
          <a:ext cx="0" cy="0"/>
          <a:chOff x="0" y="0"/>
          <a:chExt cx="0" cy="0"/>
        </a:xfrm>
      </p:grpSpPr>
      <p:pic>
        <p:nvPicPr>
          <p:cNvPr descr="0001.png" id="89" name="Google Shape;89;p40"/>
          <p:cNvPicPr preferRelativeResize="0"/>
          <p:nvPr/>
        </p:nvPicPr>
        <p:blipFill rotWithShape="1">
          <a:blip r:embed="rId2">
            <a:alphaModFix/>
          </a:blip>
          <a:srcRect b="0" l="0" r="0" t="0"/>
          <a:stretch/>
        </p:blipFill>
        <p:spPr>
          <a:xfrm>
            <a:off x="0" y="-1"/>
            <a:ext cx="9144003" cy="5143502"/>
          </a:xfrm>
          <a:prstGeom prst="rect">
            <a:avLst/>
          </a:prstGeom>
          <a:noFill/>
          <a:ln>
            <a:noFill/>
          </a:ln>
        </p:spPr>
      </p:pic>
      <p:pic>
        <p:nvPicPr>
          <p:cNvPr descr="0002.png" id="90" name="Google Shape;90;p40"/>
          <p:cNvPicPr preferRelativeResize="0"/>
          <p:nvPr/>
        </p:nvPicPr>
        <p:blipFill rotWithShape="1">
          <a:blip r:embed="rId3">
            <a:alphaModFix/>
          </a:blip>
          <a:srcRect b="5453" l="0" r="31877" t="73562"/>
          <a:stretch/>
        </p:blipFill>
        <p:spPr>
          <a:xfrm>
            <a:off x="0" y="3783725"/>
            <a:ext cx="6228185" cy="1079222"/>
          </a:xfrm>
          <a:prstGeom prst="rect">
            <a:avLst/>
          </a:prstGeom>
          <a:noFill/>
          <a:ln>
            <a:noFill/>
          </a:ln>
        </p:spPr>
      </p:pic>
      <p:pic>
        <p:nvPicPr>
          <p:cNvPr descr="0002.png" id="91" name="Google Shape;91;p40"/>
          <p:cNvPicPr preferRelativeResize="0"/>
          <p:nvPr/>
        </p:nvPicPr>
        <p:blipFill rotWithShape="1">
          <a:blip r:embed="rId3">
            <a:alphaModFix/>
          </a:blip>
          <a:srcRect b="5455" l="68112" r="0" t="0"/>
          <a:stretch/>
        </p:blipFill>
        <p:spPr>
          <a:xfrm>
            <a:off x="6228184" y="0"/>
            <a:ext cx="2915815" cy="486294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omments" Target="../comments/commen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0" y="140500"/>
            <a:ext cx="9204000" cy="46302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97" name="Google Shape;97;p1"/>
          <p:cNvSpPr txBox="1"/>
          <p:nvPr/>
        </p:nvSpPr>
        <p:spPr>
          <a:xfrm>
            <a:off x="535776" y="582375"/>
            <a:ext cx="8222400" cy="104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r>
              <a:rPr b="1" i="0" lang="en" sz="2600" u="none" cap="none" strike="noStrike">
                <a:solidFill>
                  <a:schemeClr val="lt1"/>
                </a:solidFill>
                <a:latin typeface="Roboto"/>
                <a:ea typeface="Roboto"/>
                <a:cs typeface="Roboto"/>
                <a:sym typeface="Roboto"/>
              </a:rPr>
              <a:t>A GIFT OF FIRE THIRD EDITION - SARA BAASE</a:t>
            </a:r>
            <a:endParaRPr b="1" i="0" sz="26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2600" u="none" cap="none" strike="noStrike">
                <a:solidFill>
                  <a:schemeClr val="lt1"/>
                </a:solidFill>
                <a:latin typeface="Roboto"/>
                <a:ea typeface="Roboto"/>
                <a:cs typeface="Roboto"/>
                <a:sym typeface="Roboto"/>
              </a:rPr>
              <a:t>CHAPTER 3: Technology &amp; Free Speech</a:t>
            </a:r>
            <a:endParaRPr b="1" i="0" sz="20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Lecture </a:t>
            </a:r>
            <a:r>
              <a:rPr b="1" lang="en" sz="3200">
                <a:solidFill>
                  <a:schemeClr val="lt1"/>
                </a:solidFill>
                <a:latin typeface="Roboto"/>
                <a:ea typeface="Roboto"/>
                <a:cs typeface="Roboto"/>
                <a:sym typeface="Roboto"/>
              </a:rPr>
              <a:t>2</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p:txBody>
      </p:sp>
      <p:sp>
        <p:nvSpPr>
          <p:cNvPr id="98" name="Google Shape;98;p1"/>
          <p:cNvSpPr txBox="1"/>
          <p:nvPr/>
        </p:nvSpPr>
        <p:spPr>
          <a:xfrm>
            <a:off x="2584725" y="3146550"/>
            <a:ext cx="4143900" cy="15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600"/>
              </a:spcBef>
              <a:spcAft>
                <a:spcPts val="0"/>
              </a:spcAft>
              <a:buClr>
                <a:schemeClr val="lt1"/>
              </a:buClr>
              <a:buSzPts val="1600"/>
              <a:buFont typeface="Noto Sans Symbols"/>
              <a:buNone/>
            </a:pPr>
            <a:r>
              <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Syada Tasmia Alvi</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Lecturer, Dept.of CSE</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Daffodil International University</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t/>
            </a:r>
            <a:endParaRPr b="0" i="0" sz="1400" u="none" cap="none" strike="noStrike">
              <a:solidFill>
                <a:srgbClr val="000000"/>
              </a:solidFill>
              <a:latin typeface="Arial"/>
              <a:ea typeface="Arial"/>
              <a:cs typeface="Arial"/>
              <a:sym typeface="Arial"/>
            </a:endParaRPr>
          </a:p>
        </p:txBody>
      </p:sp>
      <p:sp>
        <p:nvSpPr>
          <p:cNvPr id="99" name="Google Shape;9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53bce24d83_0_0"/>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Anonymity</a:t>
            </a:r>
            <a:endParaRPr b="1" sz="2600">
              <a:solidFill>
                <a:schemeClr val="lt1"/>
              </a:solidFill>
              <a:latin typeface="Malgun Gothic"/>
              <a:ea typeface="Malgun Gothic"/>
              <a:cs typeface="Malgun Gothic"/>
              <a:sym typeface="Malgun Gothic"/>
            </a:endParaRPr>
          </a:p>
        </p:txBody>
      </p:sp>
      <p:sp>
        <p:nvSpPr>
          <p:cNvPr id="105" name="Google Shape;105;g153bce24d83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6" name="Google Shape;106;g153bce24d83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153bce24d83_0_0"/>
          <p:cNvSpPr txBox="1"/>
          <p:nvPr/>
        </p:nvSpPr>
        <p:spPr>
          <a:xfrm>
            <a:off x="464250" y="665200"/>
            <a:ext cx="4461000" cy="3724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t/>
            </a:r>
            <a:endParaRPr sz="2000"/>
          </a:p>
          <a:p>
            <a:pPr indent="-355600" lvl="0" marL="457200" marR="0" rtl="0" algn="l">
              <a:lnSpc>
                <a:spcPct val="100000"/>
              </a:lnSpc>
              <a:spcBef>
                <a:spcPts val="1000"/>
              </a:spcBef>
              <a:spcAft>
                <a:spcPts val="0"/>
              </a:spcAft>
              <a:buClr>
                <a:srgbClr val="000000"/>
              </a:buClr>
              <a:buSzPts val="2000"/>
              <a:buFont typeface="Arial"/>
              <a:buChar char="❏"/>
            </a:pPr>
            <a:r>
              <a:rPr lang="en" sz="2000"/>
              <a:t>True anonymity</a:t>
            </a:r>
            <a:endParaRPr sz="2000"/>
          </a:p>
          <a:p>
            <a:pPr indent="-355600" lvl="1" marL="914400" marR="0" rtl="0" algn="l">
              <a:lnSpc>
                <a:spcPct val="100000"/>
              </a:lnSpc>
              <a:spcBef>
                <a:spcPts val="1000"/>
              </a:spcBef>
              <a:spcAft>
                <a:spcPts val="0"/>
              </a:spcAft>
              <a:buClr>
                <a:srgbClr val="000000"/>
              </a:buClr>
              <a:buSzPts val="2000"/>
              <a:buFont typeface="Arial"/>
              <a:buChar char="○"/>
            </a:pPr>
            <a:r>
              <a:rPr lang="en" sz="2000"/>
              <a:t>“Unlinkability”</a:t>
            </a:r>
            <a:endParaRPr sz="2000"/>
          </a:p>
          <a:p>
            <a:pPr indent="-355600" lvl="1" marL="914400" marR="0" rtl="0" algn="l">
              <a:lnSpc>
                <a:spcPct val="100000"/>
              </a:lnSpc>
              <a:spcBef>
                <a:spcPts val="1000"/>
              </a:spcBef>
              <a:spcAft>
                <a:spcPts val="0"/>
              </a:spcAft>
              <a:buClr>
                <a:srgbClr val="000000"/>
              </a:buClr>
              <a:buSzPts val="2000"/>
              <a:buFont typeface="Arial"/>
              <a:buChar char="○"/>
            </a:pPr>
            <a:r>
              <a:rPr lang="en" sz="2000"/>
              <a:t>Inability of anyone to determine the true author’s identity</a:t>
            </a:r>
            <a:endParaRPr sz="2000"/>
          </a:p>
          <a:p>
            <a:pPr indent="-355600" lvl="1" marL="914400" marR="0" rtl="0" algn="l">
              <a:lnSpc>
                <a:spcPct val="100000"/>
              </a:lnSpc>
              <a:spcBef>
                <a:spcPts val="1000"/>
              </a:spcBef>
              <a:spcAft>
                <a:spcPts val="0"/>
              </a:spcAft>
              <a:buClr>
                <a:srgbClr val="000000"/>
              </a:buClr>
              <a:buSzPts val="2000"/>
              <a:buFont typeface="Arial"/>
              <a:buChar char="○"/>
            </a:pPr>
            <a:r>
              <a:rPr lang="en" sz="2000"/>
              <a:t> Legally problematic</a:t>
            </a:r>
            <a:endParaRPr sz="2000"/>
          </a:p>
          <a:p>
            <a:pPr indent="0" lvl="0" marL="457200" marR="0" rtl="0" algn="l">
              <a:lnSpc>
                <a:spcPct val="100000"/>
              </a:lnSpc>
              <a:spcBef>
                <a:spcPts val="1000"/>
              </a:spcBef>
              <a:spcAft>
                <a:spcPts val="0"/>
              </a:spcAft>
              <a:buNone/>
            </a:pPr>
            <a:r>
              <a:t/>
            </a:r>
            <a:endParaRPr sz="2000"/>
          </a:p>
          <a:p>
            <a:pPr indent="0" lvl="0" marL="0" marR="0" rtl="0" algn="l">
              <a:lnSpc>
                <a:spcPct val="100000"/>
              </a:lnSpc>
              <a:spcBef>
                <a:spcPts val="1000"/>
              </a:spcBef>
              <a:spcAft>
                <a:spcPts val="100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pic>
        <p:nvPicPr>
          <p:cNvPr id="108" name="Google Shape;108;g153bce24d83_0_0"/>
          <p:cNvPicPr preferRelativeResize="0"/>
          <p:nvPr/>
        </p:nvPicPr>
        <p:blipFill>
          <a:blip r:embed="rId3">
            <a:alphaModFix/>
          </a:blip>
          <a:stretch>
            <a:fillRect/>
          </a:stretch>
        </p:blipFill>
        <p:spPr>
          <a:xfrm>
            <a:off x="5689025" y="1678050"/>
            <a:ext cx="3155400" cy="21144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1537bf11246_1_0"/>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Anonymity</a:t>
            </a:r>
            <a:endParaRPr b="1" sz="2600">
              <a:solidFill>
                <a:schemeClr val="lt1"/>
              </a:solidFill>
              <a:latin typeface="Malgun Gothic"/>
              <a:ea typeface="Malgun Gothic"/>
              <a:cs typeface="Malgun Gothic"/>
              <a:sym typeface="Malgun Gothic"/>
            </a:endParaRPr>
          </a:p>
        </p:txBody>
      </p:sp>
      <p:sp>
        <p:nvSpPr>
          <p:cNvPr id="114" name="Google Shape;114;g1537bf11246_1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5" name="Google Shape;115;g1537bf11246_1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1537bf11246_1_0"/>
          <p:cNvSpPr txBox="1"/>
          <p:nvPr/>
        </p:nvSpPr>
        <p:spPr>
          <a:xfrm>
            <a:off x="464250" y="665200"/>
            <a:ext cx="8393700" cy="477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t/>
            </a:r>
            <a:endParaRPr sz="2000"/>
          </a:p>
          <a:p>
            <a:pPr indent="-355600" lvl="0" marL="457200" marR="0" rtl="0" algn="l">
              <a:lnSpc>
                <a:spcPct val="100000"/>
              </a:lnSpc>
              <a:spcBef>
                <a:spcPts val="1000"/>
              </a:spcBef>
              <a:spcAft>
                <a:spcPts val="0"/>
              </a:spcAft>
              <a:buClr>
                <a:srgbClr val="000000"/>
              </a:buClr>
              <a:buSzPts val="2000"/>
              <a:buFont typeface="Arial"/>
              <a:buChar char="❏"/>
            </a:pPr>
            <a:r>
              <a:rPr lang="en" sz="2000"/>
              <a:t>Pseudonymity:</a:t>
            </a:r>
            <a:endParaRPr sz="2000"/>
          </a:p>
          <a:p>
            <a:pPr indent="-355600" lvl="1" marL="914400" marR="0" rtl="0" algn="l">
              <a:lnSpc>
                <a:spcPct val="100000"/>
              </a:lnSpc>
              <a:spcBef>
                <a:spcPts val="1000"/>
              </a:spcBef>
              <a:spcAft>
                <a:spcPts val="0"/>
              </a:spcAft>
              <a:buClr>
                <a:srgbClr val="000000"/>
              </a:buClr>
              <a:buSzPts val="2000"/>
              <a:buFont typeface="Arial"/>
              <a:buChar char="○"/>
            </a:pPr>
            <a:r>
              <a:rPr lang="en" sz="2000"/>
              <a:t>Pseudonymity is the near-anonymous state in which a user has a consistent identifier that is not their real name: a pseudonym.</a:t>
            </a:r>
            <a:endParaRPr sz="2000"/>
          </a:p>
          <a:p>
            <a:pPr indent="-355600" lvl="1" marL="914400" marR="0" rtl="0" algn="l">
              <a:lnSpc>
                <a:spcPct val="100000"/>
              </a:lnSpc>
              <a:spcBef>
                <a:spcPts val="1000"/>
              </a:spcBef>
              <a:spcAft>
                <a:spcPts val="0"/>
              </a:spcAft>
              <a:buClr>
                <a:srgbClr val="000000"/>
              </a:buClr>
              <a:buSzPts val="2000"/>
              <a:buFont typeface="Arial"/>
              <a:buChar char="○"/>
            </a:pPr>
            <a:r>
              <a:rPr lang="en" sz="2000"/>
              <a:t>public pseudonyms: link between pseudonym and human being is easy for the public to know or discover</a:t>
            </a:r>
            <a:endParaRPr sz="2000"/>
          </a:p>
          <a:p>
            <a:pPr indent="-355600" lvl="1" marL="914400" marR="0" rtl="0" algn="l">
              <a:lnSpc>
                <a:spcPct val="100000"/>
              </a:lnSpc>
              <a:spcBef>
                <a:spcPts val="1000"/>
              </a:spcBef>
              <a:spcAft>
                <a:spcPts val="0"/>
              </a:spcAft>
              <a:buClr>
                <a:srgbClr val="000000"/>
              </a:buClr>
              <a:buSzPts val="2000"/>
              <a:buFont typeface="Arial"/>
              <a:buChar char="○"/>
            </a:pPr>
            <a:r>
              <a:rPr lang="en" sz="2000"/>
              <a:t>non-public pseudonyms: link known by sysadmins, but no one else</a:t>
            </a:r>
            <a:endParaRPr sz="2000"/>
          </a:p>
          <a:p>
            <a:pPr indent="-355600" lvl="1" marL="914400" marR="0" rtl="0" algn="l">
              <a:lnSpc>
                <a:spcPct val="100000"/>
              </a:lnSpc>
              <a:spcBef>
                <a:spcPts val="1000"/>
              </a:spcBef>
              <a:spcAft>
                <a:spcPts val="0"/>
              </a:spcAft>
              <a:buClr>
                <a:srgbClr val="000000"/>
              </a:buClr>
              <a:buSzPts val="2000"/>
              <a:buFont typeface="Arial"/>
              <a:buChar char="○"/>
            </a:pPr>
            <a:r>
              <a:rPr lang="en" sz="2000"/>
              <a:t>unlinkable pseudonyms: link not known and not discoverable by service operators </a:t>
            </a:r>
            <a:endParaRPr sz="2000"/>
          </a:p>
          <a:p>
            <a:pPr indent="0" lvl="0" marL="457200" marR="0" rtl="0" algn="l">
              <a:lnSpc>
                <a:spcPct val="100000"/>
              </a:lnSpc>
              <a:spcBef>
                <a:spcPts val="1000"/>
              </a:spcBef>
              <a:spcAft>
                <a:spcPts val="0"/>
              </a:spcAft>
              <a:buNone/>
            </a:pPr>
            <a:r>
              <a:t/>
            </a:r>
            <a:endParaRPr sz="2000"/>
          </a:p>
          <a:p>
            <a:pPr indent="0" lvl="0" marL="0" marR="0" rtl="0" algn="l">
              <a:lnSpc>
                <a:spcPct val="100000"/>
              </a:lnSpc>
              <a:spcBef>
                <a:spcPts val="1000"/>
              </a:spcBef>
              <a:spcAft>
                <a:spcPts val="100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112cd06712c_0_185"/>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Anonymous Re-mailers and Web Browsers</a:t>
            </a:r>
            <a:endParaRPr b="1" sz="2600">
              <a:solidFill>
                <a:schemeClr val="lt1"/>
              </a:solidFill>
              <a:latin typeface="Malgun Gothic"/>
              <a:ea typeface="Malgun Gothic"/>
              <a:cs typeface="Malgun Gothic"/>
              <a:sym typeface="Malgun Gothic"/>
            </a:endParaRPr>
          </a:p>
        </p:txBody>
      </p:sp>
      <p:sp>
        <p:nvSpPr>
          <p:cNvPr id="122" name="Google Shape;122;g112cd06712c_0_18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3" name="Google Shape;123;g112cd06712c_0_18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112cd06712c_0_185"/>
          <p:cNvSpPr txBox="1"/>
          <p:nvPr/>
        </p:nvSpPr>
        <p:spPr>
          <a:xfrm>
            <a:off x="464250" y="665200"/>
            <a:ext cx="8393700" cy="41097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1000"/>
              </a:spcBef>
              <a:spcAft>
                <a:spcPts val="0"/>
              </a:spcAft>
              <a:buClr>
                <a:schemeClr val="accent3"/>
              </a:buClr>
              <a:buSzPts val="2100"/>
              <a:buFont typeface="Arial"/>
              <a:buChar char="❏"/>
            </a:pPr>
            <a:r>
              <a:rPr lang="en" sz="2000"/>
              <a:t>Johan Helsingius set up the first well-known anonymous email service in Finland in 1993.</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Users were not entirely anonymous</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 the system retained identifying information.</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Return address stripped off and then forwarded to recipient</a:t>
            </a:r>
            <a:endParaRPr sz="2000"/>
          </a:p>
          <a:p>
            <a:pPr indent="-361950" lvl="0" marL="457200" marR="0" rtl="0" algn="l">
              <a:lnSpc>
                <a:spcPct val="100000"/>
              </a:lnSpc>
              <a:spcBef>
                <a:spcPts val="1000"/>
              </a:spcBef>
              <a:spcAft>
                <a:spcPts val="0"/>
              </a:spcAft>
              <a:buClr>
                <a:schemeClr val="accent3"/>
              </a:buClr>
              <a:buSzPts val="2100"/>
              <a:buFont typeface="Arial"/>
              <a:buChar char="❏"/>
            </a:pPr>
            <a:r>
              <a:rPr lang="en" sz="2000"/>
              <a:t>To send anonymous email using a “re-mailer” service, one sends the message to the remailer, where the return address is stripped off and the message is re-sent to the intended recipient.</a:t>
            </a:r>
            <a:endParaRPr sz="2000"/>
          </a:p>
          <a:p>
            <a:pPr indent="-355600" lvl="0" marL="457200" marR="0" rtl="0" algn="l">
              <a:lnSpc>
                <a:spcPct val="100000"/>
              </a:lnSpc>
              <a:spcBef>
                <a:spcPts val="1000"/>
              </a:spcBef>
              <a:spcAft>
                <a:spcPts val="0"/>
              </a:spcAft>
              <a:buSzPts val="2000"/>
              <a:buChar char="❏"/>
            </a:pPr>
            <a:r>
              <a:rPr lang="en" sz="2000"/>
              <a:t>Anonymous web browsers - hide user’s IP address, do not track or</a:t>
            </a:r>
            <a:endParaRPr sz="2000"/>
          </a:p>
          <a:p>
            <a:pPr indent="0" lvl="0" marL="457200" marR="0" rtl="0" algn="l">
              <a:lnSpc>
                <a:spcPct val="100000"/>
              </a:lnSpc>
              <a:spcBef>
                <a:spcPts val="1000"/>
              </a:spcBef>
              <a:spcAft>
                <a:spcPts val="0"/>
              </a:spcAft>
              <a:buNone/>
            </a:pPr>
            <a:r>
              <a:rPr lang="en" sz="2000"/>
              <a:t>store activity</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153bf851959_0_10"/>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Anonymity vs. Community?</a:t>
            </a:r>
            <a:endParaRPr b="1" sz="2600">
              <a:solidFill>
                <a:schemeClr val="lt1"/>
              </a:solidFill>
              <a:latin typeface="Malgun Gothic"/>
              <a:ea typeface="Malgun Gothic"/>
              <a:cs typeface="Malgun Gothic"/>
              <a:sym typeface="Malgun Gothic"/>
            </a:endParaRPr>
          </a:p>
        </p:txBody>
      </p:sp>
      <p:sp>
        <p:nvSpPr>
          <p:cNvPr id="130" name="Google Shape;130;g153bf851959_0_1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1" name="Google Shape;131;g153bf851959_0_1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153bf851959_0_10"/>
          <p:cNvSpPr txBox="1"/>
          <p:nvPr/>
        </p:nvSpPr>
        <p:spPr>
          <a:xfrm>
            <a:off x="244800" y="630225"/>
            <a:ext cx="8899200" cy="31656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1000"/>
              </a:spcBef>
              <a:spcAft>
                <a:spcPts val="0"/>
              </a:spcAft>
              <a:buClr>
                <a:schemeClr val="accent3"/>
              </a:buClr>
              <a:buSzPts val="2500"/>
              <a:buFont typeface="Arial"/>
              <a:buChar char="❏"/>
            </a:pPr>
            <a:r>
              <a:rPr lang="en" sz="2400"/>
              <a:t>Supporters of anonymity </a:t>
            </a:r>
            <a:endParaRPr sz="2400"/>
          </a:p>
          <a:p>
            <a:pPr indent="-374650" lvl="1" marL="914400" marR="0" rtl="0" algn="l">
              <a:lnSpc>
                <a:spcPct val="100000"/>
              </a:lnSpc>
              <a:spcBef>
                <a:spcPts val="1000"/>
              </a:spcBef>
              <a:spcAft>
                <a:spcPts val="0"/>
              </a:spcAft>
              <a:buClr>
                <a:schemeClr val="accent3"/>
              </a:buClr>
              <a:buSzPts val="2300"/>
              <a:buFont typeface="Arial"/>
              <a:buChar char="○"/>
            </a:pPr>
            <a:r>
              <a:rPr lang="en" sz="2200"/>
              <a:t>Claim that it is necessary to protect privacy and free speech.</a:t>
            </a:r>
            <a:endParaRPr sz="2200"/>
          </a:p>
          <a:p>
            <a:pPr indent="-374650" lvl="1" marL="914400" marR="0" rtl="0" algn="l">
              <a:lnSpc>
                <a:spcPct val="100000"/>
              </a:lnSpc>
              <a:spcBef>
                <a:spcPts val="1000"/>
              </a:spcBef>
              <a:spcAft>
                <a:spcPts val="0"/>
              </a:spcAft>
              <a:buClr>
                <a:schemeClr val="accent3"/>
              </a:buClr>
              <a:buSzPts val="2300"/>
              <a:buFont typeface="Arial"/>
              <a:buChar char="○"/>
            </a:pPr>
            <a:r>
              <a:rPr lang="en" sz="2200"/>
              <a:t> Helps those who are concerned about political or economic retribution. </a:t>
            </a:r>
            <a:endParaRPr sz="2200"/>
          </a:p>
          <a:p>
            <a:pPr indent="-349250" lvl="2" marL="1371600" marR="0" rtl="0" algn="l">
              <a:lnSpc>
                <a:spcPct val="100000"/>
              </a:lnSpc>
              <a:spcBef>
                <a:spcPts val="1000"/>
              </a:spcBef>
              <a:spcAft>
                <a:spcPts val="0"/>
              </a:spcAft>
              <a:buClr>
                <a:schemeClr val="accent3"/>
              </a:buClr>
              <a:buSzPts val="1900"/>
              <a:buFont typeface="Arial"/>
              <a:buChar char="■"/>
            </a:pPr>
            <a:r>
              <a:rPr lang="en" sz="1800"/>
              <a:t>Human rights workers </a:t>
            </a:r>
            <a:endParaRPr sz="1800"/>
          </a:p>
          <a:p>
            <a:pPr indent="-349250" lvl="2" marL="1371600" marR="0" rtl="0" algn="l">
              <a:lnSpc>
                <a:spcPct val="100000"/>
              </a:lnSpc>
              <a:spcBef>
                <a:spcPts val="1000"/>
              </a:spcBef>
              <a:spcAft>
                <a:spcPts val="0"/>
              </a:spcAft>
              <a:buClr>
                <a:schemeClr val="accent3"/>
              </a:buClr>
              <a:buSzPts val="1900"/>
              <a:buFont typeface="Arial"/>
              <a:buChar char="■"/>
            </a:pPr>
            <a:r>
              <a:rPr lang="en" sz="1800"/>
              <a:t>Victims of domestic violence </a:t>
            </a:r>
            <a:endParaRPr sz="2300"/>
          </a:p>
          <a:p>
            <a:pPr indent="0" lvl="0" marL="457200" marR="0" rtl="0" algn="l">
              <a:lnSpc>
                <a:spcPct val="100000"/>
              </a:lnSpc>
              <a:spcBef>
                <a:spcPts val="1000"/>
              </a:spcBef>
              <a:spcAft>
                <a:spcPts val="0"/>
              </a:spcAft>
              <a:buNone/>
            </a:pPr>
            <a:r>
              <a:rPr lang="en" sz="2100"/>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153bf851959_0_0"/>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Anonymity vs. Community?</a:t>
            </a:r>
            <a:endParaRPr b="1" sz="2600">
              <a:solidFill>
                <a:schemeClr val="lt1"/>
              </a:solidFill>
              <a:latin typeface="Malgun Gothic"/>
              <a:ea typeface="Malgun Gothic"/>
              <a:cs typeface="Malgun Gothic"/>
              <a:sym typeface="Malgun Gothic"/>
            </a:endParaRPr>
          </a:p>
        </p:txBody>
      </p:sp>
      <p:sp>
        <p:nvSpPr>
          <p:cNvPr id="138" name="Google Shape;138;g153bf851959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9" name="Google Shape;139;g153bf851959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153bf851959_0_0"/>
          <p:cNvSpPr txBox="1"/>
          <p:nvPr/>
        </p:nvSpPr>
        <p:spPr>
          <a:xfrm>
            <a:off x="244800" y="630225"/>
            <a:ext cx="8899200" cy="30579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00000"/>
              </a:lnSpc>
              <a:spcBef>
                <a:spcPts val="1000"/>
              </a:spcBef>
              <a:spcAft>
                <a:spcPts val="0"/>
              </a:spcAft>
              <a:buClr>
                <a:schemeClr val="accent3"/>
              </a:buClr>
              <a:buSzPts val="1700"/>
              <a:buFont typeface="Arial"/>
              <a:buChar char="❏"/>
            </a:pPr>
            <a:r>
              <a:rPr lang="en" sz="2100"/>
              <a:t> </a:t>
            </a:r>
            <a:r>
              <a:rPr lang="en" sz="2400"/>
              <a:t>Opponents of anonymity</a:t>
            </a:r>
            <a:r>
              <a:rPr lang="en" sz="1900"/>
              <a:t> </a:t>
            </a:r>
            <a:endParaRPr sz="1900"/>
          </a:p>
          <a:p>
            <a:pPr indent="-368300" lvl="1" marL="914400" marR="0" rtl="0" algn="l">
              <a:lnSpc>
                <a:spcPct val="100000"/>
              </a:lnSpc>
              <a:spcBef>
                <a:spcPts val="1000"/>
              </a:spcBef>
              <a:spcAft>
                <a:spcPts val="0"/>
              </a:spcAft>
              <a:buClr>
                <a:schemeClr val="accent3"/>
              </a:buClr>
              <a:buSzPts val="2200"/>
              <a:buFont typeface="Arial"/>
              <a:buChar char="○"/>
            </a:pPr>
            <a:r>
              <a:rPr lang="en" sz="2100"/>
              <a:t>Claim that it is anti-social and allows criminals to hide from law enforcement. </a:t>
            </a:r>
            <a:endParaRPr sz="2100"/>
          </a:p>
          <a:p>
            <a:pPr indent="-368300" lvl="1" marL="914400" marR="0" rtl="0" algn="l">
              <a:lnSpc>
                <a:spcPct val="100000"/>
              </a:lnSpc>
              <a:spcBef>
                <a:spcPts val="1000"/>
              </a:spcBef>
              <a:spcAft>
                <a:spcPts val="0"/>
              </a:spcAft>
              <a:buClr>
                <a:schemeClr val="accent3"/>
              </a:buClr>
              <a:buSzPts val="2200"/>
              <a:buFont typeface="Arial"/>
              <a:buChar char="○"/>
            </a:pPr>
            <a:r>
              <a:rPr lang="en" sz="2100"/>
              <a:t>Threatens civil discourse (“marketplace of ideas”) </a:t>
            </a:r>
            <a:endParaRPr sz="2100"/>
          </a:p>
          <a:p>
            <a:pPr indent="-368300" lvl="1" marL="914400" marR="0" rtl="0" algn="l">
              <a:lnSpc>
                <a:spcPct val="100000"/>
              </a:lnSpc>
              <a:spcBef>
                <a:spcPts val="1000"/>
              </a:spcBef>
              <a:spcAft>
                <a:spcPts val="0"/>
              </a:spcAft>
              <a:buClr>
                <a:schemeClr val="accent3"/>
              </a:buClr>
              <a:buSzPts val="2200"/>
              <a:buFont typeface="Arial"/>
              <a:buChar char="○"/>
            </a:pPr>
            <a:r>
              <a:rPr lang="en" sz="2100"/>
              <a:t> Examples: </a:t>
            </a:r>
            <a:endParaRPr sz="2100"/>
          </a:p>
          <a:p>
            <a:pPr indent="-336550" lvl="2" marL="1371600" marR="0" rtl="0" algn="l">
              <a:lnSpc>
                <a:spcPct val="100000"/>
              </a:lnSpc>
              <a:spcBef>
                <a:spcPts val="1000"/>
              </a:spcBef>
              <a:spcAft>
                <a:spcPts val="0"/>
              </a:spcAft>
              <a:buClr>
                <a:schemeClr val="accent3"/>
              </a:buClr>
              <a:buSzPts val="1700"/>
              <a:buFont typeface="Arial"/>
              <a:buChar char="■"/>
            </a:pPr>
            <a:r>
              <a:rPr lang="en" sz="1700"/>
              <a:t>Online harassment </a:t>
            </a:r>
            <a:endParaRPr sz="1700"/>
          </a:p>
          <a:p>
            <a:pPr indent="-336550" lvl="2" marL="1371600" marR="0" rtl="0" algn="l">
              <a:lnSpc>
                <a:spcPct val="100000"/>
              </a:lnSpc>
              <a:spcBef>
                <a:spcPts val="1000"/>
              </a:spcBef>
              <a:spcAft>
                <a:spcPts val="0"/>
              </a:spcAft>
              <a:buClr>
                <a:schemeClr val="accent3"/>
              </a:buClr>
              <a:buSzPts val="1700"/>
              <a:buFont typeface="Arial"/>
              <a:buChar char="■"/>
            </a:pPr>
            <a:r>
              <a:rPr lang="en" sz="1700"/>
              <a:t>Fraud</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145f17dee8c_1_2"/>
          <p:cNvSpPr txBox="1"/>
          <p:nvPr>
            <p:ph type="title"/>
          </p:nvPr>
        </p:nvSpPr>
        <p:spPr>
          <a:xfrm>
            <a:off x="311700" y="62600"/>
            <a:ext cx="85608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Spam</a:t>
            </a:r>
            <a:endParaRPr b="1">
              <a:solidFill>
                <a:schemeClr val="lt1"/>
              </a:solidFill>
              <a:latin typeface="Malgun Gothic"/>
              <a:ea typeface="Malgun Gothic"/>
              <a:cs typeface="Malgun Gothic"/>
              <a:sym typeface="Malgun Gothic"/>
            </a:endParaRPr>
          </a:p>
        </p:txBody>
      </p:sp>
      <p:sp>
        <p:nvSpPr>
          <p:cNvPr id="146" name="Google Shape;146;g145f17dee8c_1_2"/>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7" name="Google Shape;147;g145f17dee8c_1_2"/>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145f17dee8c_1_2"/>
          <p:cNvSpPr txBox="1"/>
          <p:nvPr/>
        </p:nvSpPr>
        <p:spPr>
          <a:xfrm>
            <a:off x="622025" y="1033825"/>
            <a:ext cx="8089800" cy="35865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00000"/>
              </a:lnSpc>
              <a:spcBef>
                <a:spcPts val="1000"/>
              </a:spcBef>
              <a:spcAft>
                <a:spcPts val="0"/>
              </a:spcAft>
              <a:buClr>
                <a:schemeClr val="accent3"/>
              </a:buClr>
              <a:buSzPts val="1900"/>
              <a:buFont typeface="Arial"/>
              <a:buChar char="❏"/>
            </a:pPr>
            <a:r>
              <a:rPr lang="en" sz="1900"/>
              <a:t>Unsolicited, mass e-mail</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 Is cheap to senders but may impose costs on recipient’s time or the recipient’s online account (or both).</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May contain objectionable content (political, commercial ads, solicitations for funds, pornography, etc.)</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May contain a disguised return address.</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May pass through filters.</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 Invades privacy.</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 Creates a financial and managerial burden on ISPs.</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14732661473_0_13"/>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Spam: solutions (?!)</a:t>
            </a:r>
            <a:endParaRPr b="1">
              <a:solidFill>
                <a:schemeClr val="lt1"/>
              </a:solidFill>
              <a:latin typeface="Malgun Gothic"/>
              <a:ea typeface="Malgun Gothic"/>
              <a:cs typeface="Malgun Gothic"/>
              <a:sym typeface="Malgun Gothic"/>
            </a:endParaRPr>
          </a:p>
        </p:txBody>
      </p:sp>
      <p:sp>
        <p:nvSpPr>
          <p:cNvPr id="154" name="Google Shape;154;g14732661473_0_1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5" name="Google Shape;155;g14732661473_0_1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g14732661473_0_13"/>
          <p:cNvSpPr txBox="1"/>
          <p:nvPr/>
        </p:nvSpPr>
        <p:spPr>
          <a:xfrm>
            <a:off x="311700" y="825175"/>
            <a:ext cx="8732400" cy="3175800"/>
          </a:xfrm>
          <a:prstGeom prst="rect">
            <a:avLst/>
          </a:prstGeom>
          <a:noFill/>
          <a:ln>
            <a:noFill/>
          </a:ln>
        </p:spPr>
        <p:txBody>
          <a:bodyPr anchorCtr="0" anchor="t" bIns="91425" lIns="91425" spcFirstLastPara="1" rIns="91425" wrap="square" tIns="91425">
            <a:spAutoFit/>
          </a:bodyPr>
          <a:lstStyle/>
          <a:p>
            <a:pPr indent="-342900" lvl="0" marL="914400" marR="0" rtl="0" algn="l">
              <a:lnSpc>
                <a:spcPct val="100000"/>
              </a:lnSpc>
              <a:spcBef>
                <a:spcPts val="1000"/>
              </a:spcBef>
              <a:spcAft>
                <a:spcPts val="0"/>
              </a:spcAft>
              <a:buClr>
                <a:schemeClr val="dk2"/>
              </a:buClr>
              <a:buSzPts val="1800"/>
              <a:buChar char="❏"/>
            </a:pPr>
            <a:r>
              <a:rPr lang="en" sz="1800">
                <a:solidFill>
                  <a:schemeClr val="dk2"/>
                </a:solidFill>
              </a:rPr>
              <a:t>Technology: Filters that screen out spam.</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Market pressure: Services that list spammers</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Small “microfee” for sending an email?</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requires consent for email marketing</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Vigilantism: Punish spammers </a:t>
            </a:r>
            <a:endParaRPr sz="1800">
              <a:solidFill>
                <a:schemeClr val="dk2"/>
              </a:solidFill>
            </a:endParaRPr>
          </a:p>
          <a:p>
            <a:pPr indent="0" lvl="0" marL="457200" marR="0" rtl="0" algn="l">
              <a:lnSpc>
                <a:spcPct val="100000"/>
              </a:lnSpc>
              <a:spcBef>
                <a:spcPts val="1000"/>
              </a:spcBef>
              <a:spcAft>
                <a:spcPts val="0"/>
              </a:spcAft>
              <a:buNone/>
            </a:pPr>
            <a:r>
              <a:rPr b="0" i="0" lang="en" sz="1800" u="none" cap="none" strike="noStrike">
                <a:solidFill>
                  <a:schemeClr val="dk2"/>
                </a:solidFill>
                <a:latin typeface="Arial"/>
                <a:ea typeface="Arial"/>
                <a:cs typeface="Arial"/>
                <a:sym typeface="Arial"/>
              </a:rPr>
              <a:t> </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g13fbedf9817_1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2" name="Google Shape;162;g13fbedf9817_1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13fbedf9817_1_0"/>
          <p:cNvSpPr/>
          <p:nvPr/>
        </p:nvSpPr>
        <p:spPr>
          <a:xfrm>
            <a:off x="1176600" y="1740525"/>
            <a:ext cx="6790800" cy="1535700"/>
          </a:xfrm>
          <a:prstGeom prst="roundRect">
            <a:avLst>
              <a:gd fmla="val 16667" name="adj"/>
            </a:avLst>
          </a:prstGeom>
          <a:solidFill>
            <a:schemeClr val="lt2"/>
          </a:solidFill>
          <a:ln cap="flat" cmpd="sng" w="28575">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b="1" i="0" lang="en" sz="3900" u="none" cap="none" strike="noStrike">
                <a:solidFill>
                  <a:schemeClr val="accent3"/>
                </a:solidFill>
                <a:latin typeface="Arial"/>
                <a:ea typeface="Arial"/>
                <a:cs typeface="Arial"/>
                <a:sym typeface="Arial"/>
              </a:rPr>
              <a:t>Thank You</a:t>
            </a:r>
            <a:endParaRPr b="1" i="0" sz="3900" u="none" cap="none" strike="noStrike">
              <a:solidFill>
                <a:schemeClr val="accent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