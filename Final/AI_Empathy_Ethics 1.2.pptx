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7" r:id="rId6"/>
    <p:sldId id="261" r:id="rId7"/>
    <p:sldId id="262" r:id="rId8"/>
    <p:sldId id="264" r:id="rId9"/>
    <p:sldId id="265" r:id="rId10"/>
    <p:sldId id="266" r:id="rId11"/>
    <p:sldId id="263" r:id="rId12"/>
  </p:sldIdLst>
  <p:sldSz cx="9144000" cy="5143500" type="screen16x9"/>
  <p:notesSz cx="6858000" cy="9144000"/>
  <p:embeddedFontLst>
    <p:embeddedFont>
      <p:font typeface="Roboto" panose="020B0604020202020204" charset="0"/>
      <p:regular r:id="rId14"/>
      <p:bold r:id="rId15"/>
      <p:italic r:id="rId16"/>
      <p:boldItalic r:id="rId17"/>
    </p:embeddedFont>
    <p:embeddedFont>
      <p:font typeface="Malgun Gothic" panose="020B0503020000020004" pitchFamily="34" charset="-127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h/+6YM9xFxhBym6aBUzP1+JdYh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71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12965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4475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2cd06712c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112cd06712c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86155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5f17dee8c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g145f17dee8c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9628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43fda0858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143fda0858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3416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43fda0858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143fda0858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4935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3fda0858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143fda0858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1717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4bbcddc7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144bbcddc7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4035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3fda0858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143fda0858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736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3fda0858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143fda0858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3939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3fda0858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143fda0858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2384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fbedf981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13fbedf981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0141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112cd06712c_0_1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112cd06712c_0_1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g112cd06712c_0_1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g112cd06712c_0_1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g112cd06712c_0_1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f59b91e696_0_41"/>
          <p:cNvSpPr txBox="1">
            <a:spLocks noGrp="1"/>
          </p:cNvSpPr>
          <p:nvPr>
            <p:ph type="title"/>
          </p:nvPr>
        </p:nvSpPr>
        <p:spPr>
          <a:xfrm>
            <a:off x="967739" y="-11430"/>
            <a:ext cx="72009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600" b="0" i="0">
                <a:solidFill>
                  <a:srgbClr val="2B7B9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f59b91e696_0_41"/>
          <p:cNvSpPr txBox="1">
            <a:spLocks noGrp="1"/>
          </p:cNvSpPr>
          <p:nvPr>
            <p:ph type="body" idx="1"/>
          </p:nvPr>
        </p:nvSpPr>
        <p:spPr>
          <a:xfrm>
            <a:off x="628650" y="1038987"/>
            <a:ext cx="5144100" cy="31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 b="0" i="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f59b91e696_0_4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gf59b91e696_0_4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gf59b91e696_0_4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3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_COLUMN_TEXT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8"/>
          <p:cNvSpPr/>
          <p:nvPr/>
        </p:nvSpPr>
        <p:spPr>
          <a:xfrm>
            <a:off x="9" y="-962172"/>
            <a:ext cx="9233805" cy="6330149"/>
          </a:xfrm>
          <a:custGeom>
            <a:avLst/>
            <a:gdLst/>
            <a:ahLst/>
            <a:cxnLst/>
            <a:rect l="l" t="t" r="r" b="b"/>
            <a:pathLst>
              <a:path w="106319" h="72886" extrusionOk="0">
                <a:moveTo>
                  <a:pt x="98047" y="17578"/>
                </a:moveTo>
                <a:cubicBezTo>
                  <a:pt x="90726" y="25294"/>
                  <a:pt x="78229" y="26537"/>
                  <a:pt x="85120" y="17578"/>
                </a:cubicBezTo>
                <a:cubicBezTo>
                  <a:pt x="89094" y="12414"/>
                  <a:pt x="90660" y="5194"/>
                  <a:pt x="91276" y="1"/>
                </a:cubicBezTo>
                <a:lnTo>
                  <a:pt x="0" y="1"/>
                </a:lnTo>
                <a:lnTo>
                  <a:pt x="0" y="64267"/>
                </a:lnTo>
                <a:cubicBezTo>
                  <a:pt x="1853" y="61996"/>
                  <a:pt x="5128" y="58082"/>
                  <a:pt x="7238" y="50485"/>
                </a:cubicBezTo>
                <a:cubicBezTo>
                  <a:pt x="12754" y="30673"/>
                  <a:pt x="28951" y="29985"/>
                  <a:pt x="35083" y="37217"/>
                </a:cubicBezTo>
                <a:cubicBezTo>
                  <a:pt x="41980" y="45357"/>
                  <a:pt x="33105" y="66114"/>
                  <a:pt x="48531" y="72886"/>
                </a:cubicBezTo>
                <a:lnTo>
                  <a:pt x="106319" y="72886"/>
                </a:lnTo>
                <a:lnTo>
                  <a:pt x="106319" y="1"/>
                </a:lnTo>
                <a:lnTo>
                  <a:pt x="105877" y="1"/>
                </a:lnTo>
                <a:cubicBezTo>
                  <a:pt x="105106" y="4399"/>
                  <a:pt x="103086" y="12271"/>
                  <a:pt x="98047" y="17578"/>
                </a:cubicBezTo>
                <a:close/>
              </a:path>
            </a:pathLst>
          </a:custGeom>
          <a:gradFill>
            <a:gsLst>
              <a:gs pos="0">
                <a:srgbClr val="FFFEFE"/>
              </a:gs>
              <a:gs pos="65000">
                <a:srgbClr val="ECECEC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  <a:effectLst>
            <a:outerShdw blurRad="57150" dist="19050" algn="bl" rotWithShape="0">
              <a:srgbClr val="B7B7B7">
                <a:alpha val="6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38"/>
          <p:cNvGrpSpPr/>
          <p:nvPr/>
        </p:nvGrpSpPr>
        <p:grpSpPr>
          <a:xfrm>
            <a:off x="3247824" y="-408375"/>
            <a:ext cx="5985963" cy="5776828"/>
            <a:chOff x="2407800" y="3054100"/>
            <a:chExt cx="1723075" cy="1662875"/>
          </a:xfrm>
        </p:grpSpPr>
        <p:sp>
          <p:nvSpPr>
            <p:cNvPr id="67" name="Google Shape;67;p38"/>
            <p:cNvSpPr/>
            <p:nvPr/>
          </p:nvSpPr>
          <p:spPr>
            <a:xfrm>
              <a:off x="2407800" y="3054100"/>
              <a:ext cx="1723075" cy="1662725"/>
            </a:xfrm>
            <a:custGeom>
              <a:avLst/>
              <a:gdLst/>
              <a:ahLst/>
              <a:cxnLst/>
              <a:rect l="l" t="t" r="r" b="b"/>
              <a:pathLst>
                <a:path w="68923" h="66509" extrusionOk="0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  <a:lnTo>
                    <a:pt x="68923" y="66509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rgbClr val="999999">
                  <a:alpha val="4549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8"/>
            <p:cNvSpPr/>
            <p:nvPr/>
          </p:nvSpPr>
          <p:spPr>
            <a:xfrm>
              <a:off x="2584850" y="3364300"/>
              <a:ext cx="1546025" cy="1352675"/>
            </a:xfrm>
            <a:custGeom>
              <a:avLst/>
              <a:gdLst/>
              <a:ahLst/>
              <a:cxnLst/>
              <a:rect l="l" t="t" r="r" b="b"/>
              <a:pathLst>
                <a:path w="61841" h="54107" extrusionOk="0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  <a:lnTo>
                    <a:pt x="61841" y="54107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10800000" algn="bl" rotWithShape="0">
                <a:srgbClr val="B7B7B7">
                  <a:alpha val="4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8"/>
            <p:cNvSpPr/>
            <p:nvPr/>
          </p:nvSpPr>
          <p:spPr>
            <a:xfrm>
              <a:off x="2799700" y="3644300"/>
              <a:ext cx="1331175" cy="1072525"/>
            </a:xfrm>
            <a:custGeom>
              <a:avLst/>
              <a:gdLst/>
              <a:ahLst/>
              <a:cxnLst/>
              <a:rect l="l" t="t" r="r" b="b"/>
              <a:pathLst>
                <a:path w="53247" h="42901" extrusionOk="0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  <a:lnTo>
                    <a:pt x="53247" y="4290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10800000" algn="bl" rotWithShape="0">
                <a:srgbClr val="B7B7B7">
                  <a:alpha val="4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8"/>
            <p:cNvSpPr/>
            <p:nvPr/>
          </p:nvSpPr>
          <p:spPr>
            <a:xfrm>
              <a:off x="2799700" y="3644300"/>
              <a:ext cx="1331175" cy="1072525"/>
            </a:xfrm>
            <a:custGeom>
              <a:avLst/>
              <a:gdLst/>
              <a:ahLst/>
              <a:cxnLst/>
              <a:rect l="l" t="t" r="r" b="b"/>
              <a:pathLst>
                <a:path w="53247" h="42901" fill="none" extrusionOk="0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8"/>
            <p:cNvSpPr/>
            <p:nvPr/>
          </p:nvSpPr>
          <p:spPr>
            <a:xfrm>
              <a:off x="2584850" y="3364300"/>
              <a:ext cx="1546025" cy="1352675"/>
            </a:xfrm>
            <a:custGeom>
              <a:avLst/>
              <a:gdLst/>
              <a:ahLst/>
              <a:cxnLst/>
              <a:rect l="l" t="t" r="r" b="b"/>
              <a:pathLst>
                <a:path w="61841" h="54107" fill="none" extrusionOk="0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>
              <a:off x="2407800" y="3054100"/>
              <a:ext cx="1723075" cy="1662725"/>
            </a:xfrm>
            <a:custGeom>
              <a:avLst/>
              <a:gdLst/>
              <a:ahLst/>
              <a:cxnLst/>
              <a:rect l="l" t="t" r="r" b="b"/>
              <a:pathLst>
                <a:path w="68923" h="66509" fill="none" extrusionOk="0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38"/>
          <p:cNvGrpSpPr/>
          <p:nvPr/>
        </p:nvGrpSpPr>
        <p:grpSpPr>
          <a:xfrm>
            <a:off x="-17" y="-962218"/>
            <a:ext cx="7767430" cy="4298033"/>
            <a:chOff x="1472900" y="2894675"/>
            <a:chExt cx="2235875" cy="1237200"/>
          </a:xfrm>
        </p:grpSpPr>
        <p:sp>
          <p:nvSpPr>
            <p:cNvPr id="74" name="Google Shape;74;p38"/>
            <p:cNvSpPr/>
            <p:nvPr/>
          </p:nvSpPr>
          <p:spPr>
            <a:xfrm>
              <a:off x="1472900" y="2894675"/>
              <a:ext cx="2235875" cy="1237200"/>
            </a:xfrm>
            <a:custGeom>
              <a:avLst/>
              <a:gdLst/>
              <a:ahLst/>
              <a:cxnLst/>
              <a:rect l="l" t="t" r="r" b="b"/>
              <a:pathLst>
                <a:path w="89435" h="49488" extrusionOk="0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  <a:lnTo>
                    <a:pt x="6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8820000" algn="bl" rotWithShape="0">
                <a:srgbClr val="B7B7B7">
                  <a:alpha val="4549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8"/>
            <p:cNvSpPr/>
            <p:nvPr/>
          </p:nvSpPr>
          <p:spPr>
            <a:xfrm>
              <a:off x="1472900" y="2894675"/>
              <a:ext cx="1990250" cy="1016650"/>
            </a:xfrm>
            <a:custGeom>
              <a:avLst/>
              <a:gdLst/>
              <a:ahLst/>
              <a:cxnLst/>
              <a:rect l="l" t="t" r="r" b="b"/>
              <a:pathLst>
                <a:path w="79610" h="40666" extrusionOk="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6600000" algn="bl" rotWithShape="0">
                <a:srgbClr val="B7B7B7">
                  <a:alpha val="4352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8"/>
            <p:cNvSpPr/>
            <p:nvPr/>
          </p:nvSpPr>
          <p:spPr>
            <a:xfrm>
              <a:off x="1472900" y="2894675"/>
              <a:ext cx="1754175" cy="766825"/>
            </a:xfrm>
            <a:custGeom>
              <a:avLst/>
              <a:gdLst/>
              <a:ahLst/>
              <a:cxnLst/>
              <a:rect l="l" t="t" r="r" b="b"/>
              <a:pathLst>
                <a:path w="70167" h="30673" extrusionOk="0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2580000" algn="bl" rotWithShape="0">
                <a:srgbClr val="D9D9D9">
                  <a:alpha val="4352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8"/>
            <p:cNvSpPr/>
            <p:nvPr/>
          </p:nvSpPr>
          <p:spPr>
            <a:xfrm>
              <a:off x="1472900" y="2894675"/>
              <a:ext cx="1754175" cy="766825"/>
            </a:xfrm>
            <a:custGeom>
              <a:avLst/>
              <a:gdLst/>
              <a:ahLst/>
              <a:cxnLst/>
              <a:rect l="l" t="t" r="r" b="b"/>
              <a:pathLst>
                <a:path w="70167" h="30673" fill="none" extrusionOk="0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8"/>
            <p:cNvSpPr/>
            <p:nvPr/>
          </p:nvSpPr>
          <p:spPr>
            <a:xfrm>
              <a:off x="1472900" y="2894675"/>
              <a:ext cx="1990250" cy="1016650"/>
            </a:xfrm>
            <a:custGeom>
              <a:avLst/>
              <a:gdLst/>
              <a:ahLst/>
              <a:cxnLst/>
              <a:rect l="l" t="t" r="r" b="b"/>
              <a:pathLst>
                <a:path w="79610" h="40666" fill="none" extrusionOk="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8"/>
            <p:cNvSpPr/>
            <p:nvPr/>
          </p:nvSpPr>
          <p:spPr>
            <a:xfrm>
              <a:off x="1472900" y="2894675"/>
              <a:ext cx="2235875" cy="1237200"/>
            </a:xfrm>
            <a:custGeom>
              <a:avLst/>
              <a:gdLst/>
              <a:ahLst/>
              <a:cxnLst/>
              <a:rect l="l" t="t" r="r" b="b"/>
              <a:pathLst>
                <a:path w="89435" h="49488" fill="none" extrusionOk="0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38"/>
          <p:cNvSpPr/>
          <p:nvPr/>
        </p:nvSpPr>
        <p:spPr>
          <a:xfrm>
            <a:off x="720000" y="995250"/>
            <a:ext cx="3706500" cy="3153000"/>
          </a:xfrm>
          <a:prstGeom prst="roundRect">
            <a:avLst>
              <a:gd name="adj" fmla="val 8467"/>
            </a:avLst>
          </a:prstGeom>
          <a:solidFill>
            <a:schemeClr val="lt2"/>
          </a:solidFill>
          <a:ln>
            <a:noFill/>
          </a:ln>
          <a:effectLst>
            <a:outerShdw blurRad="185738" dist="66675" dir="6120000" algn="bl" rotWithShape="0">
              <a:srgbClr val="999999">
                <a:alpha val="5254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8"/>
          <p:cNvSpPr txBox="1">
            <a:spLocks noGrp="1"/>
          </p:cNvSpPr>
          <p:nvPr>
            <p:ph type="title"/>
          </p:nvPr>
        </p:nvSpPr>
        <p:spPr>
          <a:xfrm>
            <a:off x="1169275" y="1377288"/>
            <a:ext cx="28080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subTitle" idx="1"/>
          </p:nvPr>
        </p:nvSpPr>
        <p:spPr>
          <a:xfrm>
            <a:off x="1169275" y="1948813"/>
            <a:ext cx="2808000" cy="18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Subtitle">
  <p:cSld name="Title-Subtitl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9"/>
          <p:cNvSpPr txBox="1">
            <a:spLocks noGrp="1"/>
          </p:cNvSpPr>
          <p:nvPr>
            <p:ph type="body" idx="1"/>
          </p:nvPr>
        </p:nvSpPr>
        <p:spPr>
          <a:xfrm>
            <a:off x="387819" y="730530"/>
            <a:ext cx="83685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387819" y="282611"/>
            <a:ext cx="83685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0" descr="00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0" descr="0002.png"/>
          <p:cNvPicPr preferRelativeResize="0"/>
          <p:nvPr/>
        </p:nvPicPr>
        <p:blipFill rotWithShape="1">
          <a:blip r:embed="rId3">
            <a:alphaModFix/>
          </a:blip>
          <a:srcRect t="73562" r="31877" b="5453"/>
          <a:stretch/>
        </p:blipFill>
        <p:spPr>
          <a:xfrm>
            <a:off x="0" y="3783725"/>
            <a:ext cx="6228185" cy="1079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 descr="0002.png"/>
          <p:cNvPicPr preferRelativeResize="0"/>
          <p:nvPr/>
        </p:nvPicPr>
        <p:blipFill rotWithShape="1">
          <a:blip r:embed="rId3">
            <a:alphaModFix/>
          </a:blip>
          <a:srcRect l="68112" b="5455"/>
          <a:stretch/>
        </p:blipFill>
        <p:spPr>
          <a:xfrm>
            <a:off x="6228184" y="0"/>
            <a:ext cx="2915815" cy="4862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140500"/>
            <a:ext cx="9144000" cy="463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35776" y="582375"/>
            <a:ext cx="82224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endParaRPr sz="32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lang="en" sz="32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sz="32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ctr">
              <a:buClr>
                <a:schemeClr val="lt1"/>
              </a:buClr>
              <a:buSzPts val="3200"/>
            </a:pPr>
            <a:r>
              <a:rPr lang="en-US" sz="36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Roboto"/>
                <a:sym typeface="Roboto"/>
              </a:rPr>
              <a:t>“</a:t>
            </a:r>
            <a:r>
              <a:rPr lang="en-US" sz="36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AI</a:t>
            </a: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, Empathy &amp; </a:t>
            </a:r>
            <a:r>
              <a:rPr lang="en-US" sz="36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Ethics</a:t>
            </a: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+mj-lt"/>
                <a:ea typeface="Roboto"/>
                <a:sym typeface="Roboto"/>
              </a:rPr>
              <a:t>-</a:t>
            </a:r>
            <a:endParaRPr lang="en-US" sz="3600" b="1" dirty="0">
              <a:solidFill>
                <a:schemeClr val="bg1">
                  <a:lumMod val="95000"/>
                </a:schemeClr>
              </a:solidFill>
              <a:latin typeface="+mj-lt"/>
              <a:ea typeface="Roboto"/>
              <a:cs typeface="Roboto"/>
              <a:sym typeface="Roboto"/>
            </a:endParaRPr>
          </a:p>
          <a:p>
            <a:pPr lvl="0" algn="ctr">
              <a:buClr>
                <a:schemeClr val="lt1"/>
              </a:buClr>
              <a:buSzPts val="3200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(Discriminators</a:t>
            </a:r>
            <a:r>
              <a:rPr lang="en-US" sz="36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)”</a:t>
            </a:r>
            <a:endParaRPr lang="en-US" sz="3600" b="1" dirty="0">
              <a:solidFill>
                <a:schemeClr val="bg1">
                  <a:lumMod val="95000"/>
                </a:schemeClr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endParaRPr sz="32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lang="en" sz="3600" b="1" i="0" u="none" strike="noStrike" cap="none" dirty="0">
                <a:solidFill>
                  <a:schemeClr val="bg1">
                    <a:lumMod val="9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Lecture </a:t>
            </a:r>
            <a:r>
              <a:rPr lang="en" sz="3600" b="1" dirty="0" smtClean="0">
                <a:solidFill>
                  <a:schemeClr val="bg1">
                    <a:lumMod val="9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3600" b="1" i="0" u="none" strike="noStrike" cap="none" dirty="0">
              <a:solidFill>
                <a:schemeClr val="bg1">
                  <a:lumMod val="9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500050" y="3138161"/>
            <a:ext cx="4143900" cy="15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endParaRPr sz="1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lang="en-US" sz="17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Ms. </a:t>
            </a:r>
            <a:r>
              <a:rPr lang="en-US" sz="1700" b="0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Rimi</a:t>
            </a:r>
            <a:r>
              <a:rPr lang="en-US" sz="17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Akter</a:t>
            </a:r>
            <a:endParaRPr sz="1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lang="en" sz="1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Lecturer, Dept</a:t>
            </a:r>
            <a:r>
              <a:rPr lang="en" sz="17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of </a:t>
            </a:r>
            <a:r>
              <a:rPr lang="en" sz="1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CSE</a:t>
            </a:r>
            <a:endParaRPr sz="1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lang="en" sz="1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Daffodil International University</a:t>
            </a:r>
            <a:endParaRPr sz="1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2cd06712c_0_18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cs typeface="Malgun Gothic"/>
                <a:sym typeface="Malgun Gothic"/>
              </a:rPr>
              <a:t>“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What is AI Discrimination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?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cs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112cd06712c_0_18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06" name="Google Shape;106;g112cd06712c_0_18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112cd06712c_0_185"/>
          <p:cNvSpPr txBox="1"/>
          <p:nvPr/>
        </p:nvSpPr>
        <p:spPr>
          <a:xfrm>
            <a:off x="922788" y="755009"/>
            <a:ext cx="7885361" cy="3102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AI discrimination happens when AI treats one group unfairly.</a:t>
            </a:r>
          </a:p>
          <a:p>
            <a:pPr>
              <a:lnSpc>
                <a:spcPct val="114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Reasons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Biased data 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Poor algorithms 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Historical inequalities </a:t>
            </a:r>
          </a:p>
          <a:p>
            <a:pPr marL="45720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50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5f17dee8c_1_2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AI Discrimination Cont’d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g145f17dee8c_1_2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14" name="Google Shape;114;g145f17dee8c_1_2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145f17dee8c_1_2"/>
          <p:cNvSpPr txBox="1"/>
          <p:nvPr/>
        </p:nvSpPr>
        <p:spPr>
          <a:xfrm>
            <a:off x="919748" y="753353"/>
            <a:ext cx="8089800" cy="462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 smtClean="0"/>
              <a:t>Types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/>
              <a:t>Gender </a:t>
            </a:r>
            <a:r>
              <a:rPr lang="en-US" sz="2400" dirty="0"/>
              <a:t>Bias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Racial Bias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Age Bias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Disability Bias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Language Bias </a:t>
            </a:r>
            <a:endParaRPr lang="en-US" sz="2400" dirty="0" smtClean="0"/>
          </a:p>
          <a:p>
            <a:pPr>
              <a:lnSpc>
                <a:spcPct val="114000"/>
              </a:lnSpc>
            </a:pPr>
            <a:r>
              <a:rPr lang="en-US" sz="2400" b="1" dirty="0" smtClean="0"/>
              <a:t>Example</a:t>
            </a:r>
            <a:endParaRPr lang="en-US" sz="2400" b="1" dirty="0"/>
          </a:p>
          <a:p>
            <a:pPr>
              <a:lnSpc>
                <a:spcPct val="114000"/>
              </a:lnSpc>
            </a:pPr>
            <a:r>
              <a:rPr lang="en-US" sz="2400" dirty="0"/>
              <a:t>An AI translator performs poorly for low-resource languages.</a:t>
            </a:r>
          </a:p>
          <a:p>
            <a:pPr marL="101600" lvl="0">
              <a:spcBef>
                <a:spcPts val="1000"/>
              </a:spcBef>
              <a:buSzPts val="2000"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43fda08588_0_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" sz="3200" b="1" dirty="0">
                <a:solidFill>
                  <a:schemeClr val="bg1">
                    <a:lumMod val="95000"/>
                  </a:schemeClr>
                </a:solidFill>
                <a:ea typeface="Malgun Gothic"/>
                <a:sym typeface="Malgun Gothic"/>
              </a:rPr>
              <a:t>“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AI Discrimination Cont’d</a:t>
            </a:r>
            <a:r>
              <a:rPr lang="en" sz="3200" b="1" dirty="0">
                <a:solidFill>
                  <a:schemeClr val="bg1">
                    <a:lumMod val="95000"/>
                  </a:schemeClr>
                </a:solidFill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g143fda08588_0_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31" name="Google Shape;131;g143fda08588_0_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143fda08588_0_5"/>
          <p:cNvSpPr txBox="1"/>
          <p:nvPr/>
        </p:nvSpPr>
        <p:spPr>
          <a:xfrm>
            <a:off x="924332" y="758677"/>
            <a:ext cx="7776300" cy="3308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 smtClean="0"/>
              <a:t>Real-world examples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smtClean="0"/>
              <a:t>Hiring </a:t>
            </a:r>
            <a:r>
              <a:rPr lang="en-US" sz="2400" dirty="0"/>
              <a:t>AI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Rejected female resumes more often.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Face Recognition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Higher error rates for darker skin tones.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Healthcare AI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Less accurate predictions for minority patients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43fda08588_0_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“Causes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of AI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Bias”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g143fda08588_0_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31" name="Google Shape;131;g143fda08588_0_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143fda08588_0_5"/>
          <p:cNvSpPr txBox="1"/>
          <p:nvPr/>
        </p:nvSpPr>
        <p:spPr>
          <a:xfrm>
            <a:off x="922855" y="753374"/>
            <a:ext cx="7776300" cy="326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Biased Training Data</a:t>
            </a:r>
          </a:p>
          <a:p>
            <a:r>
              <a:rPr lang="en-US" sz="2400" dirty="0"/>
              <a:t>↓</a:t>
            </a:r>
          </a:p>
          <a:p>
            <a:r>
              <a:rPr lang="en-US" sz="2400" dirty="0"/>
              <a:t>Biased Model</a:t>
            </a:r>
          </a:p>
          <a:p>
            <a:r>
              <a:rPr lang="en-US" sz="2400" dirty="0"/>
              <a:t>↓</a:t>
            </a:r>
          </a:p>
          <a:p>
            <a:r>
              <a:rPr lang="en-US" sz="2400" dirty="0"/>
              <a:t>Unfair Decisions</a:t>
            </a:r>
          </a:p>
          <a:p>
            <a:r>
              <a:rPr lang="en-US" sz="2400" dirty="0"/>
              <a:t>↓</a:t>
            </a:r>
          </a:p>
          <a:p>
            <a:r>
              <a:rPr lang="en-US" sz="2400" dirty="0"/>
              <a:t>Social Harm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5239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3fda08588_0_1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107717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“Manage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Fairness and Non-Discrimination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Risks”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143fda08588_0_1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39" name="Google Shape;139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143fda08588_0_15"/>
          <p:cNvSpPr txBox="1"/>
          <p:nvPr/>
        </p:nvSpPr>
        <p:spPr>
          <a:xfrm>
            <a:off x="922855" y="1195140"/>
            <a:ext cx="7776300" cy="325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400" b="1" dirty="0"/>
              <a:t>Managing AI Fairness Risks</a:t>
            </a:r>
          </a:p>
          <a:p>
            <a:pPr>
              <a:lnSpc>
                <a:spcPct val="114000"/>
              </a:lnSpc>
            </a:pPr>
            <a:r>
              <a:rPr lang="en-US" sz="2400" dirty="0"/>
              <a:t>Organizations </a:t>
            </a:r>
            <a:r>
              <a:rPr lang="en-US" sz="2400" dirty="0" smtClean="0"/>
              <a:t>should: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Use diverse datasets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Test for bias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Monitor AI continuously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Include human oversight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Follow ethical guidelines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44bbcddc71_0_4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“Bias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Mitigation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Techniques”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g144bbcddc71_0_4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47" name="Google Shape;147;g144bbcddc71_0_4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21452" y="2760582"/>
            <a:ext cx="87336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22788" y="757310"/>
            <a:ext cx="5561901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Before Training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Collect balanced data 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During Training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Fairness-aware algorithms 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After Training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Audit predictions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Explain AI decisions</a:t>
            </a:r>
          </a:p>
          <a:p>
            <a:pPr>
              <a:spcAft>
                <a:spcPts val="600"/>
              </a:spcAft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3fda08588_0_1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Ethical Risks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143fda08588_0_1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39" name="Google Shape;139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143fda08588_0_15"/>
          <p:cNvSpPr txBox="1"/>
          <p:nvPr/>
        </p:nvSpPr>
        <p:spPr>
          <a:xfrm>
            <a:off x="922854" y="751771"/>
            <a:ext cx="7776300" cy="37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 smtClean="0"/>
              <a:t>Common</a:t>
            </a:r>
            <a:r>
              <a:rPr lang="en-US" sz="2400" b="1" dirty="0"/>
              <a:t> </a:t>
            </a:r>
            <a:r>
              <a:rPr lang="en-US" sz="2400" b="1" dirty="0" smtClean="0"/>
              <a:t>Ethical </a:t>
            </a:r>
            <a:r>
              <a:rPr lang="en-US" sz="2400" b="1" dirty="0"/>
              <a:t>Risks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Privacy Risk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Bias Risk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Security Risk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Loss of Human </a:t>
            </a:r>
            <a:r>
              <a:rPr lang="en-US" sz="2400" dirty="0" smtClean="0"/>
              <a:t>Control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smtClean="0"/>
              <a:t>Job </a:t>
            </a:r>
            <a:r>
              <a:rPr lang="en-US" sz="2400" dirty="0"/>
              <a:t>Displacement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Misinformation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Deepfakes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981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3fda08588_0_1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“Ethical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Risk Assessment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Process”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143fda08588_0_1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39" name="Google Shape;139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143fda08588_0_15"/>
          <p:cNvSpPr txBox="1"/>
          <p:nvPr/>
        </p:nvSpPr>
        <p:spPr>
          <a:xfrm>
            <a:off x="922855" y="756047"/>
            <a:ext cx="777630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/>
              <a:t>Identify Risk </a:t>
            </a:r>
          </a:p>
          <a:p>
            <a:r>
              <a:rPr lang="en-US" sz="2400" dirty="0"/>
              <a:t>↓</a:t>
            </a:r>
          </a:p>
          <a:p>
            <a:r>
              <a:rPr lang="en-US" sz="2400" dirty="0"/>
              <a:t>Evaluate Impact </a:t>
            </a:r>
          </a:p>
          <a:p>
            <a:r>
              <a:rPr lang="en-US" sz="2400" dirty="0"/>
              <a:t>↓</a:t>
            </a:r>
          </a:p>
          <a:p>
            <a:r>
              <a:rPr lang="en-US" sz="2400" dirty="0"/>
              <a:t>Reduce Risk </a:t>
            </a:r>
          </a:p>
          <a:p>
            <a:r>
              <a:rPr lang="en-US" sz="2400" dirty="0"/>
              <a:t>↓</a:t>
            </a:r>
          </a:p>
          <a:p>
            <a:r>
              <a:rPr lang="en-US" sz="2400" dirty="0"/>
              <a:t>Monitor Continuously </a:t>
            </a:r>
          </a:p>
        </p:txBody>
      </p:sp>
    </p:spTree>
    <p:extLst>
      <p:ext uri="{BB962C8B-B14F-4D97-AF65-F5344CB8AC3E}">
        <p14:creationId xmlns:p14="http://schemas.microsoft.com/office/powerpoint/2010/main" val="122964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3fda08588_0_1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Ethical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Risks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Cont’d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143fda08588_0_1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39" name="Google Shape;139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143fda08588_0_15"/>
          <p:cNvSpPr txBox="1"/>
          <p:nvPr/>
        </p:nvSpPr>
        <p:spPr>
          <a:xfrm>
            <a:off x="924029" y="755712"/>
            <a:ext cx="77763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b="1" dirty="0" smtClean="0"/>
              <a:t>Example: </a:t>
            </a:r>
            <a:r>
              <a:rPr lang="en-US" sz="2000" dirty="0" smtClean="0"/>
              <a:t>AI </a:t>
            </a:r>
            <a:r>
              <a:rPr lang="en-US" sz="2000" dirty="0"/>
              <a:t>in Hospitals</a:t>
            </a:r>
          </a:p>
          <a:p>
            <a:r>
              <a:rPr lang="en-US" sz="2000" dirty="0"/>
              <a:t>Possible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Wrong diagnosis</a:t>
            </a:r>
          </a:p>
          <a:p>
            <a:r>
              <a:rPr lang="en-US" sz="2000" dirty="0"/>
              <a:t>Possible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Human doctor verifies AI recommendation before treatment.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24029" y="2441763"/>
            <a:ext cx="66512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Best Practices</a:t>
            </a:r>
          </a:p>
          <a:p>
            <a:r>
              <a:rPr lang="en-US" sz="2000" dirty="0"/>
              <a:t>Responsible AI should </a:t>
            </a:r>
            <a:r>
              <a:rPr lang="en-US" sz="2000" dirty="0" smtClean="0"/>
              <a:t>be</a:t>
            </a: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Fair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Transparent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Explainable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Secure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Accountable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Human-centered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1928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fbedf9817_1_0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54" name="Google Shape;154;g13fbedf9817_1_0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13fbedf9817_1_0"/>
          <p:cNvSpPr/>
          <p:nvPr/>
        </p:nvSpPr>
        <p:spPr>
          <a:xfrm>
            <a:off x="1176600" y="1740525"/>
            <a:ext cx="6790800" cy="1535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3900" b="1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3900" b="1" i="0" u="none" strike="noStrike" cap="none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265</Words>
  <Application>Microsoft Office PowerPoint</Application>
  <PresentationFormat>On-screen Show (16:9)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Roboto</vt:lpstr>
      <vt:lpstr>Noto Sans Symbols</vt:lpstr>
      <vt:lpstr>Arial</vt:lpstr>
      <vt:lpstr>Malgun Gothic</vt:lpstr>
      <vt:lpstr>Wingdings</vt:lpstr>
      <vt:lpstr>Calibri</vt:lpstr>
      <vt:lpstr>Simple Light</vt:lpstr>
      <vt:lpstr>PowerPoint Presentation</vt:lpstr>
      <vt:lpstr>“What is AI Discrimination?”</vt:lpstr>
      <vt:lpstr>“AI Discrimination Cont’d”</vt:lpstr>
      <vt:lpstr>“AI Discrimination Cont’d”</vt:lpstr>
      <vt:lpstr>“Causes of AI Bias”</vt:lpstr>
      <vt:lpstr>“Manage Fairness and Non-Discrimination Risks”</vt:lpstr>
      <vt:lpstr>“Bias Mitigation Techniques”</vt:lpstr>
      <vt:lpstr>“Ethical Risks”</vt:lpstr>
      <vt:lpstr>“Ethical Risk Assessment Process”</vt:lpstr>
      <vt:lpstr>“Ethical Risks Cont’d”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Rimi Akter</dc:creator>
  <cp:lastModifiedBy>Administrator</cp:lastModifiedBy>
  <cp:revision>48</cp:revision>
  <dcterms:modified xsi:type="dcterms:W3CDTF">2026-07-28T09:38:29Z</dcterms:modified>
</cp:coreProperties>
</file>