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7" r:id="rId6"/>
    <p:sldId id="261" r:id="rId7"/>
    <p:sldId id="262" r:id="rId8"/>
    <p:sldId id="264" r:id="rId9"/>
    <p:sldId id="265" r:id="rId10"/>
    <p:sldId id="266" r:id="rId11"/>
    <p:sldId id="263" r:id="rId12"/>
  </p:sldIdLst>
  <p:sldSz cx="9144000" cy="5143500" type="screen16x9"/>
  <p:notesSz cx="6858000" cy="9144000"/>
  <p:embeddedFontLst>
    <p:embeddedFont>
      <p:font typeface="Roboto" panose="020B0604020202020204" charset="0"/>
      <p:regular r:id="rId14"/>
      <p:bold r:id="rId15"/>
      <p:italic r:id="rId16"/>
      <p:boldItalic r:id="rId17"/>
    </p:embeddedFont>
    <p:embeddedFont>
      <p:font typeface="Malgun Gothic" panose="020B0503020000020004" pitchFamily="34" charset="-127"/>
      <p:regular r:id="rId18"/>
      <p:bold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44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h/+6YM9xFxhBym6aBUzP1+JdYh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714" autoAdjust="0"/>
  </p:normalViewPr>
  <p:slideViewPr>
    <p:cSldViewPr snapToGrid="0">
      <p:cViewPr varScale="1">
        <p:scale>
          <a:sx n="114" d="100"/>
          <a:sy n="114" d="100"/>
        </p:scale>
        <p:origin x="714" y="96"/>
      </p:cViewPr>
      <p:guideLst>
        <p:guide orient="horz" pos="164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129653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04475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12cd06712c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g112cd06712c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86155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5f17dee8c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0" name="Google Shape;110;g145f17dee8c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79628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43fda0858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g143fda0858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03416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43fda0858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g143fda0858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4935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3fda0858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143fda0858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81717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44bbcddc71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g144bbcddc71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34035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3fda0858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143fda0858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17364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3fda0858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143fda0858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239391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3fda0858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143fda0858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223849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3fbedf981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g13fbedf981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00141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3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112cd06712c_0_1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112cd06712c_0_1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g112cd06712c_0_1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g112cd06712c_0_1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g112cd06712c_0_1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f59b91e696_0_41"/>
          <p:cNvSpPr txBox="1">
            <a:spLocks noGrp="1"/>
          </p:cNvSpPr>
          <p:nvPr>
            <p:ph type="title"/>
          </p:nvPr>
        </p:nvSpPr>
        <p:spPr>
          <a:xfrm>
            <a:off x="967739" y="-11430"/>
            <a:ext cx="7200900" cy="10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600" b="0" i="0">
                <a:solidFill>
                  <a:srgbClr val="2B7B9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gf59b91e696_0_41"/>
          <p:cNvSpPr txBox="1">
            <a:spLocks noGrp="1"/>
          </p:cNvSpPr>
          <p:nvPr>
            <p:ph type="body" idx="1"/>
          </p:nvPr>
        </p:nvSpPr>
        <p:spPr>
          <a:xfrm>
            <a:off x="628650" y="1038987"/>
            <a:ext cx="5144100" cy="31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 b="0" i="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gf59b91e696_0_41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gf59b91e696_0_41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gf59b91e696_0_41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5" name="Google Shape;45;p3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6" name="Google Shape;46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9" name="Google Shape;49;p3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0" name="Google Shape;50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4" name="Google Shape;54;p3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5" name="Google Shape;55;p3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3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ONE_COLUMN_TEXT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8"/>
          <p:cNvSpPr/>
          <p:nvPr/>
        </p:nvSpPr>
        <p:spPr>
          <a:xfrm>
            <a:off x="9" y="-962172"/>
            <a:ext cx="9233805" cy="6330149"/>
          </a:xfrm>
          <a:custGeom>
            <a:avLst/>
            <a:gdLst/>
            <a:ahLst/>
            <a:cxnLst/>
            <a:rect l="l" t="t" r="r" b="b"/>
            <a:pathLst>
              <a:path w="106319" h="72886" extrusionOk="0">
                <a:moveTo>
                  <a:pt x="98047" y="17578"/>
                </a:moveTo>
                <a:cubicBezTo>
                  <a:pt x="90726" y="25294"/>
                  <a:pt x="78229" y="26537"/>
                  <a:pt x="85120" y="17578"/>
                </a:cubicBezTo>
                <a:cubicBezTo>
                  <a:pt x="89094" y="12414"/>
                  <a:pt x="90660" y="5194"/>
                  <a:pt x="91276" y="1"/>
                </a:cubicBezTo>
                <a:lnTo>
                  <a:pt x="0" y="1"/>
                </a:lnTo>
                <a:lnTo>
                  <a:pt x="0" y="64267"/>
                </a:lnTo>
                <a:cubicBezTo>
                  <a:pt x="1853" y="61996"/>
                  <a:pt x="5128" y="58082"/>
                  <a:pt x="7238" y="50485"/>
                </a:cubicBezTo>
                <a:cubicBezTo>
                  <a:pt x="12754" y="30673"/>
                  <a:pt x="28951" y="29985"/>
                  <a:pt x="35083" y="37217"/>
                </a:cubicBezTo>
                <a:cubicBezTo>
                  <a:pt x="41980" y="45357"/>
                  <a:pt x="33105" y="66114"/>
                  <a:pt x="48531" y="72886"/>
                </a:cubicBezTo>
                <a:lnTo>
                  <a:pt x="106319" y="72886"/>
                </a:lnTo>
                <a:lnTo>
                  <a:pt x="106319" y="1"/>
                </a:lnTo>
                <a:lnTo>
                  <a:pt x="105877" y="1"/>
                </a:lnTo>
                <a:cubicBezTo>
                  <a:pt x="105106" y="4399"/>
                  <a:pt x="103086" y="12271"/>
                  <a:pt x="98047" y="17578"/>
                </a:cubicBezTo>
                <a:close/>
              </a:path>
            </a:pathLst>
          </a:custGeom>
          <a:gradFill>
            <a:gsLst>
              <a:gs pos="0">
                <a:srgbClr val="FFFEFE"/>
              </a:gs>
              <a:gs pos="65000">
                <a:srgbClr val="ECECEC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  <a:effectLst>
            <a:outerShdw blurRad="57150" dist="19050" algn="bl" rotWithShape="0">
              <a:srgbClr val="B7B7B7">
                <a:alpha val="6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" name="Google Shape;66;p38"/>
          <p:cNvGrpSpPr/>
          <p:nvPr/>
        </p:nvGrpSpPr>
        <p:grpSpPr>
          <a:xfrm>
            <a:off x="3247824" y="-408375"/>
            <a:ext cx="5985963" cy="5776828"/>
            <a:chOff x="2407800" y="3054100"/>
            <a:chExt cx="1723075" cy="1662875"/>
          </a:xfrm>
        </p:grpSpPr>
        <p:sp>
          <p:nvSpPr>
            <p:cNvPr id="67" name="Google Shape;67;p38"/>
            <p:cNvSpPr/>
            <p:nvPr/>
          </p:nvSpPr>
          <p:spPr>
            <a:xfrm>
              <a:off x="2407800" y="3054100"/>
              <a:ext cx="1723075" cy="1662725"/>
            </a:xfrm>
            <a:custGeom>
              <a:avLst/>
              <a:gdLst/>
              <a:ahLst/>
              <a:cxnLst/>
              <a:rect l="l" t="t" r="r" b="b"/>
              <a:pathLst>
                <a:path w="68923" h="66509" extrusionOk="0">
                  <a:moveTo>
                    <a:pt x="68923" y="1"/>
                  </a:moveTo>
                  <a:cubicBezTo>
                    <a:pt x="68923" y="1"/>
                    <a:pt x="66682" y="14476"/>
                    <a:pt x="52039" y="20507"/>
                  </a:cubicBezTo>
                  <a:cubicBezTo>
                    <a:pt x="37396" y="26537"/>
                    <a:pt x="26877" y="21194"/>
                    <a:pt x="16543" y="24296"/>
                  </a:cubicBezTo>
                  <a:cubicBezTo>
                    <a:pt x="6204" y="27398"/>
                    <a:pt x="0" y="40839"/>
                    <a:pt x="6204" y="52900"/>
                  </a:cubicBezTo>
                  <a:cubicBezTo>
                    <a:pt x="12408" y="64961"/>
                    <a:pt x="24642" y="66509"/>
                    <a:pt x="24642" y="66509"/>
                  </a:cubicBezTo>
                  <a:lnTo>
                    <a:pt x="68923" y="66509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rgbClr val="999999">
                  <a:alpha val="4549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8"/>
            <p:cNvSpPr/>
            <p:nvPr/>
          </p:nvSpPr>
          <p:spPr>
            <a:xfrm>
              <a:off x="2584850" y="3364300"/>
              <a:ext cx="1546025" cy="1352675"/>
            </a:xfrm>
            <a:custGeom>
              <a:avLst/>
              <a:gdLst/>
              <a:ahLst/>
              <a:cxnLst/>
              <a:rect l="l" t="t" r="r" b="b"/>
              <a:pathLst>
                <a:path w="61841" h="54107" extrusionOk="0">
                  <a:moveTo>
                    <a:pt x="61841" y="0"/>
                  </a:moveTo>
                  <a:cubicBezTo>
                    <a:pt x="61841" y="0"/>
                    <a:pt x="58566" y="8439"/>
                    <a:pt x="40815" y="11888"/>
                  </a:cubicBezTo>
                  <a:cubicBezTo>
                    <a:pt x="23070" y="15336"/>
                    <a:pt x="7943" y="12426"/>
                    <a:pt x="4118" y="27050"/>
                  </a:cubicBezTo>
                  <a:cubicBezTo>
                    <a:pt x="0" y="42781"/>
                    <a:pt x="17554" y="54107"/>
                    <a:pt x="17554" y="54107"/>
                  </a:cubicBezTo>
                  <a:lnTo>
                    <a:pt x="61841" y="54107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dist="19050" dir="10800000" algn="bl" rotWithShape="0">
                <a:srgbClr val="B7B7B7">
                  <a:alpha val="4196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38"/>
            <p:cNvSpPr/>
            <p:nvPr/>
          </p:nvSpPr>
          <p:spPr>
            <a:xfrm>
              <a:off x="2799700" y="3644300"/>
              <a:ext cx="1331175" cy="1072525"/>
            </a:xfrm>
            <a:custGeom>
              <a:avLst/>
              <a:gdLst/>
              <a:ahLst/>
              <a:cxnLst/>
              <a:rect l="l" t="t" r="r" b="b"/>
              <a:pathLst>
                <a:path w="53247" h="42901" extrusionOk="0">
                  <a:moveTo>
                    <a:pt x="53247" y="0"/>
                  </a:moveTo>
                  <a:cubicBezTo>
                    <a:pt x="53247" y="0"/>
                    <a:pt x="49625" y="4363"/>
                    <a:pt x="32568" y="5021"/>
                  </a:cubicBezTo>
                  <a:cubicBezTo>
                    <a:pt x="15510" y="5684"/>
                    <a:pt x="3790" y="6270"/>
                    <a:pt x="1895" y="19502"/>
                  </a:cubicBezTo>
                  <a:cubicBezTo>
                    <a:pt x="1" y="32734"/>
                    <a:pt x="10687" y="42901"/>
                    <a:pt x="10687" y="42901"/>
                  </a:cubicBezTo>
                  <a:lnTo>
                    <a:pt x="53247" y="42901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dist="19050" dir="10800000" algn="bl" rotWithShape="0">
                <a:srgbClr val="B7B7B7">
                  <a:alpha val="4196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8"/>
            <p:cNvSpPr/>
            <p:nvPr/>
          </p:nvSpPr>
          <p:spPr>
            <a:xfrm>
              <a:off x="2799700" y="3644300"/>
              <a:ext cx="1331175" cy="1072525"/>
            </a:xfrm>
            <a:custGeom>
              <a:avLst/>
              <a:gdLst/>
              <a:ahLst/>
              <a:cxnLst/>
              <a:rect l="l" t="t" r="r" b="b"/>
              <a:pathLst>
                <a:path w="53247" h="42901" fill="none" extrusionOk="0">
                  <a:moveTo>
                    <a:pt x="53247" y="0"/>
                  </a:moveTo>
                  <a:cubicBezTo>
                    <a:pt x="53247" y="0"/>
                    <a:pt x="49625" y="4363"/>
                    <a:pt x="32568" y="5021"/>
                  </a:cubicBezTo>
                  <a:cubicBezTo>
                    <a:pt x="15510" y="5684"/>
                    <a:pt x="3790" y="6270"/>
                    <a:pt x="1895" y="19502"/>
                  </a:cubicBezTo>
                  <a:cubicBezTo>
                    <a:pt x="1" y="32734"/>
                    <a:pt x="10687" y="42901"/>
                    <a:pt x="10687" y="42901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w="9525" cap="flat" cmpd="sng">
              <a:solidFill>
                <a:srgbClr val="FFFFFF"/>
              </a:solidFill>
              <a:prstDash val="solid"/>
              <a:miter lim="597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8"/>
            <p:cNvSpPr/>
            <p:nvPr/>
          </p:nvSpPr>
          <p:spPr>
            <a:xfrm>
              <a:off x="2584850" y="3364300"/>
              <a:ext cx="1546025" cy="1352675"/>
            </a:xfrm>
            <a:custGeom>
              <a:avLst/>
              <a:gdLst/>
              <a:ahLst/>
              <a:cxnLst/>
              <a:rect l="l" t="t" r="r" b="b"/>
              <a:pathLst>
                <a:path w="61841" h="54107" fill="none" extrusionOk="0">
                  <a:moveTo>
                    <a:pt x="61841" y="0"/>
                  </a:moveTo>
                  <a:cubicBezTo>
                    <a:pt x="61841" y="0"/>
                    <a:pt x="58566" y="8439"/>
                    <a:pt x="40815" y="11888"/>
                  </a:cubicBezTo>
                  <a:cubicBezTo>
                    <a:pt x="23070" y="15336"/>
                    <a:pt x="7943" y="12426"/>
                    <a:pt x="4118" y="27050"/>
                  </a:cubicBezTo>
                  <a:cubicBezTo>
                    <a:pt x="0" y="42781"/>
                    <a:pt x="17554" y="54107"/>
                    <a:pt x="17554" y="54107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w="9525" cap="flat" cmpd="sng">
              <a:solidFill>
                <a:srgbClr val="FFFFFF"/>
              </a:solidFill>
              <a:prstDash val="solid"/>
              <a:miter lim="597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>
              <a:off x="2407800" y="3054100"/>
              <a:ext cx="1723075" cy="1662725"/>
            </a:xfrm>
            <a:custGeom>
              <a:avLst/>
              <a:gdLst/>
              <a:ahLst/>
              <a:cxnLst/>
              <a:rect l="l" t="t" r="r" b="b"/>
              <a:pathLst>
                <a:path w="68923" h="66509" fill="none" extrusionOk="0">
                  <a:moveTo>
                    <a:pt x="68923" y="1"/>
                  </a:moveTo>
                  <a:cubicBezTo>
                    <a:pt x="68923" y="1"/>
                    <a:pt x="66682" y="14476"/>
                    <a:pt x="52039" y="20507"/>
                  </a:cubicBezTo>
                  <a:cubicBezTo>
                    <a:pt x="37396" y="26537"/>
                    <a:pt x="26877" y="21194"/>
                    <a:pt x="16543" y="24296"/>
                  </a:cubicBezTo>
                  <a:cubicBezTo>
                    <a:pt x="6204" y="27398"/>
                    <a:pt x="0" y="40839"/>
                    <a:pt x="6204" y="52900"/>
                  </a:cubicBezTo>
                  <a:cubicBezTo>
                    <a:pt x="12408" y="64961"/>
                    <a:pt x="24642" y="66509"/>
                    <a:pt x="24642" y="66509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w="9525" cap="flat" cmpd="sng">
              <a:solidFill>
                <a:srgbClr val="FFFFFF"/>
              </a:solidFill>
              <a:prstDash val="solid"/>
              <a:miter lim="597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" name="Google Shape;73;p38"/>
          <p:cNvGrpSpPr/>
          <p:nvPr/>
        </p:nvGrpSpPr>
        <p:grpSpPr>
          <a:xfrm>
            <a:off x="-17" y="-962218"/>
            <a:ext cx="7767430" cy="4298033"/>
            <a:chOff x="1472900" y="2894675"/>
            <a:chExt cx="2235875" cy="1237200"/>
          </a:xfrm>
        </p:grpSpPr>
        <p:sp>
          <p:nvSpPr>
            <p:cNvPr id="74" name="Google Shape;74;p38"/>
            <p:cNvSpPr/>
            <p:nvPr/>
          </p:nvSpPr>
          <p:spPr>
            <a:xfrm>
              <a:off x="1472900" y="2894675"/>
              <a:ext cx="2235875" cy="1237200"/>
            </a:xfrm>
            <a:custGeom>
              <a:avLst/>
              <a:gdLst/>
              <a:ahLst/>
              <a:cxnLst/>
              <a:rect l="l" t="t" r="r" b="b"/>
              <a:pathLst>
                <a:path w="89435" h="49488" extrusionOk="0">
                  <a:moveTo>
                    <a:pt x="0" y="49487"/>
                  </a:moveTo>
                  <a:cubicBezTo>
                    <a:pt x="0" y="49487"/>
                    <a:pt x="4190" y="33691"/>
                    <a:pt x="19992" y="27224"/>
                  </a:cubicBezTo>
                  <a:cubicBezTo>
                    <a:pt x="38944" y="19473"/>
                    <a:pt x="46331" y="28665"/>
                    <a:pt x="65827" y="23608"/>
                  </a:cubicBezTo>
                  <a:cubicBezTo>
                    <a:pt x="85317" y="18546"/>
                    <a:pt x="89435" y="1"/>
                    <a:pt x="89435" y="1"/>
                  </a:cubicBezTo>
                  <a:lnTo>
                    <a:pt x="6" y="1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dist="19050" dir="8820000" algn="bl" rotWithShape="0">
                <a:srgbClr val="B7B7B7">
                  <a:alpha val="4549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8"/>
            <p:cNvSpPr/>
            <p:nvPr/>
          </p:nvSpPr>
          <p:spPr>
            <a:xfrm>
              <a:off x="1472900" y="2894675"/>
              <a:ext cx="1990250" cy="1016650"/>
            </a:xfrm>
            <a:custGeom>
              <a:avLst/>
              <a:gdLst/>
              <a:ahLst/>
              <a:cxnLst/>
              <a:rect l="l" t="t" r="r" b="b"/>
              <a:pathLst>
                <a:path w="79610" h="40666" extrusionOk="0">
                  <a:moveTo>
                    <a:pt x="0" y="40666"/>
                  </a:moveTo>
                  <a:cubicBezTo>
                    <a:pt x="0" y="40666"/>
                    <a:pt x="2743" y="28975"/>
                    <a:pt x="17410" y="23608"/>
                  </a:cubicBezTo>
                  <a:cubicBezTo>
                    <a:pt x="31109" y="18594"/>
                    <a:pt x="41508" y="24887"/>
                    <a:pt x="59342" y="20261"/>
                  </a:cubicBezTo>
                  <a:cubicBezTo>
                    <a:pt x="77177" y="15630"/>
                    <a:pt x="79609" y="1"/>
                    <a:pt x="79609" y="1"/>
                  </a:cubicBez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dist="19050" dir="6600000" algn="bl" rotWithShape="0">
                <a:srgbClr val="B7B7B7">
                  <a:alpha val="4352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8"/>
            <p:cNvSpPr/>
            <p:nvPr/>
          </p:nvSpPr>
          <p:spPr>
            <a:xfrm>
              <a:off x="1472900" y="2894675"/>
              <a:ext cx="1754175" cy="766825"/>
            </a:xfrm>
            <a:custGeom>
              <a:avLst/>
              <a:gdLst/>
              <a:ahLst/>
              <a:cxnLst/>
              <a:rect l="l" t="t" r="r" b="b"/>
              <a:pathLst>
                <a:path w="70167" h="30673" extrusionOk="0">
                  <a:moveTo>
                    <a:pt x="0" y="30673"/>
                  </a:moveTo>
                  <a:cubicBezTo>
                    <a:pt x="0" y="30673"/>
                    <a:pt x="4136" y="22228"/>
                    <a:pt x="16436" y="18953"/>
                  </a:cubicBezTo>
                  <a:cubicBezTo>
                    <a:pt x="28443" y="15761"/>
                    <a:pt x="35352" y="21194"/>
                    <a:pt x="50539" y="17255"/>
                  </a:cubicBezTo>
                  <a:cubicBezTo>
                    <a:pt x="65725" y="13311"/>
                    <a:pt x="70166" y="1"/>
                    <a:pt x="70166" y="1"/>
                  </a:cubicBez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dist="19050" dir="2580000" algn="bl" rotWithShape="0">
                <a:srgbClr val="D9D9D9">
                  <a:alpha val="4352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8"/>
            <p:cNvSpPr/>
            <p:nvPr/>
          </p:nvSpPr>
          <p:spPr>
            <a:xfrm>
              <a:off x="1472900" y="2894675"/>
              <a:ext cx="1754175" cy="766825"/>
            </a:xfrm>
            <a:custGeom>
              <a:avLst/>
              <a:gdLst/>
              <a:ahLst/>
              <a:cxnLst/>
              <a:rect l="l" t="t" r="r" b="b"/>
              <a:pathLst>
                <a:path w="70167" h="30673" fill="none" extrusionOk="0">
                  <a:moveTo>
                    <a:pt x="0" y="30673"/>
                  </a:moveTo>
                  <a:cubicBezTo>
                    <a:pt x="0" y="30673"/>
                    <a:pt x="4136" y="22228"/>
                    <a:pt x="16436" y="18953"/>
                  </a:cubicBezTo>
                  <a:cubicBezTo>
                    <a:pt x="28443" y="15761"/>
                    <a:pt x="35352" y="21194"/>
                    <a:pt x="50539" y="17255"/>
                  </a:cubicBezTo>
                  <a:cubicBezTo>
                    <a:pt x="65725" y="13311"/>
                    <a:pt x="70166" y="1"/>
                    <a:pt x="70166" y="1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w="9525" cap="flat" cmpd="sng">
              <a:solidFill>
                <a:srgbClr val="FFFFFF"/>
              </a:solidFill>
              <a:prstDash val="solid"/>
              <a:miter lim="597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8"/>
            <p:cNvSpPr/>
            <p:nvPr/>
          </p:nvSpPr>
          <p:spPr>
            <a:xfrm>
              <a:off x="1472900" y="2894675"/>
              <a:ext cx="1990250" cy="1016650"/>
            </a:xfrm>
            <a:custGeom>
              <a:avLst/>
              <a:gdLst/>
              <a:ahLst/>
              <a:cxnLst/>
              <a:rect l="l" t="t" r="r" b="b"/>
              <a:pathLst>
                <a:path w="79610" h="40666" fill="none" extrusionOk="0">
                  <a:moveTo>
                    <a:pt x="0" y="40666"/>
                  </a:moveTo>
                  <a:cubicBezTo>
                    <a:pt x="0" y="40666"/>
                    <a:pt x="2743" y="28975"/>
                    <a:pt x="17410" y="23608"/>
                  </a:cubicBezTo>
                  <a:cubicBezTo>
                    <a:pt x="31109" y="18594"/>
                    <a:pt x="41508" y="24887"/>
                    <a:pt x="59342" y="20261"/>
                  </a:cubicBezTo>
                  <a:cubicBezTo>
                    <a:pt x="77177" y="15630"/>
                    <a:pt x="79609" y="1"/>
                    <a:pt x="79609" y="1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w="9525" cap="flat" cmpd="sng">
              <a:solidFill>
                <a:srgbClr val="FFFFFF"/>
              </a:solidFill>
              <a:prstDash val="solid"/>
              <a:miter lim="597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8"/>
            <p:cNvSpPr/>
            <p:nvPr/>
          </p:nvSpPr>
          <p:spPr>
            <a:xfrm>
              <a:off x="1472900" y="2894675"/>
              <a:ext cx="2235875" cy="1237200"/>
            </a:xfrm>
            <a:custGeom>
              <a:avLst/>
              <a:gdLst/>
              <a:ahLst/>
              <a:cxnLst/>
              <a:rect l="l" t="t" r="r" b="b"/>
              <a:pathLst>
                <a:path w="89435" h="49488" fill="none" extrusionOk="0">
                  <a:moveTo>
                    <a:pt x="0" y="49487"/>
                  </a:moveTo>
                  <a:cubicBezTo>
                    <a:pt x="0" y="49487"/>
                    <a:pt x="4190" y="33691"/>
                    <a:pt x="19992" y="27224"/>
                  </a:cubicBezTo>
                  <a:cubicBezTo>
                    <a:pt x="38944" y="19473"/>
                    <a:pt x="46331" y="28665"/>
                    <a:pt x="65827" y="23608"/>
                  </a:cubicBezTo>
                  <a:cubicBezTo>
                    <a:pt x="85317" y="18546"/>
                    <a:pt x="89435" y="1"/>
                    <a:pt x="89435" y="1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w="9525" cap="flat" cmpd="sng">
              <a:solidFill>
                <a:srgbClr val="FFFFFF"/>
              </a:solidFill>
              <a:prstDash val="solid"/>
              <a:miter lim="597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" name="Google Shape;80;p38"/>
          <p:cNvSpPr/>
          <p:nvPr/>
        </p:nvSpPr>
        <p:spPr>
          <a:xfrm>
            <a:off x="720000" y="995250"/>
            <a:ext cx="3706500" cy="3153000"/>
          </a:xfrm>
          <a:prstGeom prst="roundRect">
            <a:avLst>
              <a:gd name="adj" fmla="val 8467"/>
            </a:avLst>
          </a:prstGeom>
          <a:solidFill>
            <a:schemeClr val="lt2"/>
          </a:solidFill>
          <a:ln>
            <a:noFill/>
          </a:ln>
          <a:effectLst>
            <a:outerShdw blurRad="185738" dist="66675" dir="6120000" algn="bl" rotWithShape="0">
              <a:srgbClr val="999999">
                <a:alpha val="5254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8"/>
          <p:cNvSpPr txBox="1">
            <a:spLocks noGrp="1"/>
          </p:cNvSpPr>
          <p:nvPr>
            <p:ph type="title"/>
          </p:nvPr>
        </p:nvSpPr>
        <p:spPr>
          <a:xfrm>
            <a:off x="1169275" y="1377288"/>
            <a:ext cx="2808000" cy="4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subTitle" idx="1"/>
          </p:nvPr>
        </p:nvSpPr>
        <p:spPr>
          <a:xfrm>
            <a:off x="1169275" y="1948813"/>
            <a:ext cx="2808000" cy="18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-Subtitle">
  <p:cSld name="Title-Subtitl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9"/>
          <p:cNvSpPr txBox="1">
            <a:spLocks noGrp="1"/>
          </p:cNvSpPr>
          <p:nvPr>
            <p:ph type="body" idx="1"/>
          </p:nvPr>
        </p:nvSpPr>
        <p:spPr>
          <a:xfrm>
            <a:off x="387819" y="730530"/>
            <a:ext cx="83685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22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6" name="Google Shape;86;p39"/>
          <p:cNvSpPr txBox="1">
            <a:spLocks noGrp="1"/>
          </p:cNvSpPr>
          <p:nvPr>
            <p:ph type="title"/>
          </p:nvPr>
        </p:nvSpPr>
        <p:spPr>
          <a:xfrm>
            <a:off x="387819" y="282611"/>
            <a:ext cx="83685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87" name="Google Shape;87;p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40" descr="0001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9144003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40" descr="0002.png"/>
          <p:cNvPicPr preferRelativeResize="0"/>
          <p:nvPr/>
        </p:nvPicPr>
        <p:blipFill rotWithShape="1">
          <a:blip r:embed="rId3">
            <a:alphaModFix/>
          </a:blip>
          <a:srcRect t="73562" r="31877" b="5453"/>
          <a:stretch/>
        </p:blipFill>
        <p:spPr>
          <a:xfrm>
            <a:off x="0" y="3783725"/>
            <a:ext cx="6228185" cy="1079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40" descr="0002.png"/>
          <p:cNvPicPr preferRelativeResize="0"/>
          <p:nvPr/>
        </p:nvPicPr>
        <p:blipFill rotWithShape="1">
          <a:blip r:embed="rId3">
            <a:alphaModFix/>
          </a:blip>
          <a:srcRect l="68112" b="5455"/>
          <a:stretch/>
        </p:blipFill>
        <p:spPr>
          <a:xfrm>
            <a:off x="6228184" y="0"/>
            <a:ext cx="2915815" cy="4862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/>
          <p:nvPr/>
        </p:nvSpPr>
        <p:spPr>
          <a:xfrm>
            <a:off x="0" y="140500"/>
            <a:ext cx="9144000" cy="463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535776" y="582375"/>
            <a:ext cx="822240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endParaRPr sz="3200" b="1" i="0" u="none" strike="noStrike" cap="none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lang="en" sz="32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endParaRPr sz="3200" b="1" i="0" u="none" strike="noStrike" cap="none" dirty="0" smtClean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 algn="ctr">
              <a:buClr>
                <a:schemeClr val="lt1"/>
              </a:buClr>
              <a:buSzPts val="3200"/>
            </a:pPr>
            <a:r>
              <a:rPr lang="en" sz="3600" b="1" i="0" u="none" strike="noStrike" cap="none" dirty="0" smtClean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US" sz="40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Roboto"/>
                <a:cs typeface="Roboto"/>
                <a:sym typeface="Roboto"/>
              </a:rPr>
              <a:t>“</a:t>
            </a:r>
            <a:r>
              <a:rPr lang="en-US" sz="40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AI</a:t>
            </a:r>
            <a:r>
              <a:rPr lang="en-US" sz="40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, Empathy &amp; </a:t>
            </a:r>
            <a:r>
              <a:rPr lang="en-US" sz="40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Ethics</a:t>
            </a:r>
            <a:r>
              <a:rPr lang="en-US" sz="40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Roboto"/>
                <a:sym typeface="Roboto"/>
              </a:rPr>
              <a:t>”</a:t>
            </a:r>
            <a:endParaRPr lang="en-US" sz="4000" b="1" dirty="0" smtClean="0">
              <a:solidFill>
                <a:schemeClr val="bg1">
                  <a:lumMod val="95000"/>
                </a:schemeClr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endParaRPr lang="en" sz="4000" b="1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lang="en" sz="3600" b="1" i="0" u="none" strike="noStrike" cap="none" dirty="0" smtClean="0">
                <a:solidFill>
                  <a:schemeClr val="bg1">
                    <a:lumMod val="9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Lecture </a:t>
            </a:r>
            <a:r>
              <a:rPr lang="en" sz="3600" b="1" dirty="0" smtClean="0">
                <a:solidFill>
                  <a:schemeClr val="bg1">
                    <a:lumMod val="9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3600" b="1" i="0" u="none" strike="noStrike" cap="none" dirty="0">
              <a:solidFill>
                <a:schemeClr val="bg1">
                  <a:lumMod val="95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2500050" y="3104605"/>
            <a:ext cx="4143900" cy="15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endParaRPr sz="17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r>
              <a:rPr lang="en-US" sz="1700" b="0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Ms. </a:t>
            </a:r>
            <a:r>
              <a:rPr lang="en-US" sz="1700" b="0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Rimi</a:t>
            </a:r>
            <a:r>
              <a:rPr lang="en-US" sz="1700" b="0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b="0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Akter</a:t>
            </a:r>
            <a:endParaRPr sz="17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r>
              <a:rPr lang="en" sz="17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Lecturer, Dept</a:t>
            </a:r>
            <a:r>
              <a:rPr lang="en" sz="1700" b="0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of </a:t>
            </a:r>
            <a:r>
              <a:rPr lang="en" sz="17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CSE</a:t>
            </a:r>
            <a:endParaRPr sz="17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r>
              <a:rPr lang="en" sz="17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Daffodil International University</a:t>
            </a:r>
            <a:endParaRPr sz="17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12cd06712c_0_185"/>
          <p:cNvSpPr txBox="1">
            <a:spLocks noGrp="1"/>
          </p:cNvSpPr>
          <p:nvPr>
            <p:ph type="title"/>
          </p:nvPr>
        </p:nvSpPr>
        <p:spPr>
          <a:xfrm>
            <a:off x="311700" y="62600"/>
            <a:ext cx="7692900" cy="5847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000"/>
            </a:pPr>
            <a:r>
              <a:rPr lang="en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Malgun Gothic"/>
                <a:sym typeface="Malgun Gothic"/>
              </a:rPr>
              <a:t>“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FAIRNESS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AND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PROTECTION</a:t>
            </a:r>
            <a:r>
              <a:rPr lang="en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Malgun Gothic"/>
                <a:sym typeface="Malgun Gothic"/>
              </a:rPr>
              <a:t>”</a:t>
            </a:r>
            <a:endParaRPr sz="3200" b="1" dirty="0">
              <a:solidFill>
                <a:schemeClr val="bg1">
                  <a:lumMod val="95000"/>
                </a:schemeClr>
              </a:solidFill>
              <a:latin typeface="+mj-lt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g112cd06712c_0_185"/>
          <p:cNvSpPr txBox="1">
            <a:spLocks noGrp="1"/>
          </p:cNvSpPr>
          <p:nvPr>
            <p:ph type="sldNum" idx="12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06" name="Google Shape;106;g112cd06712c_0_185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112cd06712c_0_185"/>
          <p:cNvSpPr txBox="1"/>
          <p:nvPr/>
        </p:nvSpPr>
        <p:spPr>
          <a:xfrm>
            <a:off x="923890" y="754456"/>
            <a:ext cx="8304000" cy="246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dirty="0"/>
              <a:t>Learning </a:t>
            </a:r>
            <a:r>
              <a:rPr lang="en-US" sz="2400" b="1" dirty="0" smtClean="0"/>
              <a:t>Outcomes</a:t>
            </a:r>
            <a:endParaRPr lang="en-US" sz="24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Understand AI Fairness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Know why protection is necessary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Identify ethical AI principles</a:t>
            </a:r>
          </a:p>
          <a:p>
            <a:pPr marL="4572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5f17dee8c_1_2"/>
          <p:cNvSpPr txBox="1">
            <a:spLocks noGrp="1"/>
          </p:cNvSpPr>
          <p:nvPr>
            <p:ph type="title"/>
          </p:nvPr>
        </p:nvSpPr>
        <p:spPr>
          <a:xfrm>
            <a:off x="311700" y="62600"/>
            <a:ext cx="7692900" cy="5847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2000"/>
            </a:pPr>
            <a:r>
              <a:rPr lang="en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Malgun Gothic"/>
                <a:sym typeface="Malgun Gothic"/>
              </a:rPr>
              <a:t>“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What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is AI Fairness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?</a:t>
            </a:r>
            <a:r>
              <a:rPr lang="en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Malgun Gothic"/>
                <a:sym typeface="Malgun Gothic"/>
              </a:rPr>
              <a:t>”</a:t>
            </a:r>
            <a:endParaRPr sz="3200" b="1" dirty="0">
              <a:solidFill>
                <a:schemeClr val="bg1">
                  <a:lumMod val="95000"/>
                </a:schemeClr>
              </a:solidFill>
              <a:latin typeface="+mj-lt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g145f17dee8c_1_2"/>
          <p:cNvSpPr txBox="1">
            <a:spLocks noGrp="1"/>
          </p:cNvSpPr>
          <p:nvPr>
            <p:ph type="sldNum" idx="12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14" name="Google Shape;114;g145f17dee8c_1_2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22789" y="755009"/>
            <a:ext cx="7675926" cy="4652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4500" lvl="0" indent="-342900">
              <a:spcBef>
                <a:spcPts val="1000"/>
              </a:spcBef>
              <a:buSzPts val="2000"/>
              <a:buFont typeface="Wingdings" panose="05000000000000000000" pitchFamily="2" charset="2"/>
              <a:buChar char="q"/>
            </a:pPr>
            <a:r>
              <a:rPr lang="en-US" sz="2000" dirty="0"/>
              <a:t>AI should treat every person equally without unfair bias or discrimination.</a:t>
            </a:r>
          </a:p>
          <a:p>
            <a:pPr marL="444500" lvl="0" indent="-342900">
              <a:spcBef>
                <a:spcPts val="1000"/>
              </a:spcBef>
              <a:buSzPts val="2000"/>
              <a:buFont typeface="Wingdings" panose="05000000000000000000" pitchFamily="2" charset="2"/>
              <a:buChar char="q"/>
            </a:pPr>
            <a:r>
              <a:rPr lang="en-US" sz="2000" dirty="0"/>
              <a:t>An AI system should not make decisions based on</a:t>
            </a:r>
          </a:p>
          <a:p>
            <a:pPr lvl="4"/>
            <a:r>
              <a:rPr lang="en-US" sz="2000" dirty="0"/>
              <a:t>	Gender </a:t>
            </a:r>
          </a:p>
          <a:p>
            <a:pPr lvl="1"/>
            <a:r>
              <a:rPr lang="en-US" sz="2000" dirty="0"/>
              <a:t>	Race </a:t>
            </a:r>
          </a:p>
          <a:p>
            <a:pPr lvl="1"/>
            <a:r>
              <a:rPr lang="en-US" sz="2000" dirty="0"/>
              <a:t>	Religion </a:t>
            </a:r>
          </a:p>
          <a:p>
            <a:pPr lvl="1"/>
            <a:r>
              <a:rPr lang="en-US" sz="2000" dirty="0"/>
              <a:t>	Age </a:t>
            </a:r>
          </a:p>
          <a:p>
            <a:pPr lvl="1"/>
            <a:r>
              <a:rPr lang="en-US" sz="2000" dirty="0"/>
              <a:t>	Disability </a:t>
            </a:r>
          </a:p>
          <a:p>
            <a:pPr lvl="1"/>
            <a:r>
              <a:rPr lang="en-US" sz="2000" dirty="0"/>
              <a:t>	Nationality </a:t>
            </a:r>
          </a:p>
          <a:p>
            <a:pPr lvl="1"/>
            <a:r>
              <a:rPr lang="en-US" sz="2000" dirty="0"/>
              <a:t>	Unless legally or ethically justified.</a:t>
            </a:r>
          </a:p>
          <a:p>
            <a:r>
              <a:rPr lang="en-US" sz="2000" b="1" dirty="0"/>
              <a:t>  Example:</a:t>
            </a:r>
          </a:p>
          <a:p>
            <a:r>
              <a:rPr lang="en-US" sz="2000" dirty="0"/>
              <a:t>  A recruitment AI should evaluate skills,</a:t>
            </a:r>
            <a:br>
              <a:rPr lang="en-US" sz="2000" dirty="0"/>
            </a:br>
            <a:r>
              <a:rPr lang="en-US" sz="2000" dirty="0"/>
              <a:t>  NOT gender or religion.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43fda08588_0_5"/>
          <p:cNvSpPr txBox="1">
            <a:spLocks noGrp="1"/>
          </p:cNvSpPr>
          <p:nvPr>
            <p:ph type="title"/>
          </p:nvPr>
        </p:nvSpPr>
        <p:spPr>
          <a:xfrm>
            <a:off x="311700" y="62600"/>
            <a:ext cx="7692900" cy="5847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000"/>
            </a:pPr>
            <a:r>
              <a:rPr lang="en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Malgun Gothic"/>
                <a:sym typeface="Malgun Gothic"/>
              </a:rPr>
              <a:t>“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Why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Fairness is Important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?</a:t>
            </a:r>
            <a:r>
              <a:rPr lang="en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Malgun Gothic"/>
                <a:sym typeface="Malgun Gothic"/>
              </a:rPr>
              <a:t>”</a:t>
            </a:r>
            <a:endParaRPr sz="3200" b="1" dirty="0">
              <a:solidFill>
                <a:schemeClr val="bg1">
                  <a:lumMod val="95000"/>
                </a:schemeClr>
              </a:solidFill>
              <a:latin typeface="+mj-lt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g143fda08588_0_5"/>
          <p:cNvSpPr txBox="1">
            <a:spLocks noGrp="1"/>
          </p:cNvSpPr>
          <p:nvPr>
            <p:ph type="sldNum" idx="12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131" name="Google Shape;131;g143fda08588_0_5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143fda08588_0_5"/>
          <p:cNvSpPr txBox="1"/>
          <p:nvPr/>
        </p:nvSpPr>
        <p:spPr>
          <a:xfrm>
            <a:off x="922855" y="754176"/>
            <a:ext cx="7776300" cy="4407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/>
              <a:t>Without fairness,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dirty="0"/>
              <a:t>People lose trust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dirty="0"/>
              <a:t>Wrong decisions occur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dirty="0"/>
              <a:t>Legal problems arise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dirty="0"/>
              <a:t>Human rights may be </a:t>
            </a:r>
            <a:r>
              <a:rPr lang="en-US" sz="2400" dirty="0" smtClean="0"/>
              <a:t>violated</a:t>
            </a:r>
            <a:endParaRPr lang="en-US" sz="2400" dirty="0"/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n-US" sz="2400" b="1" dirty="0"/>
              <a:t>Example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n-US" sz="2400" dirty="0"/>
              <a:t>Face recognition systems once showed much lower accuracy for darker skin tones than lighter skin tones.</a:t>
            </a:r>
          </a:p>
          <a:p>
            <a:pPr marL="4572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</a:pP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43fda08588_0_5"/>
          <p:cNvSpPr txBox="1">
            <a:spLocks noGrp="1"/>
          </p:cNvSpPr>
          <p:nvPr>
            <p:ph type="title"/>
          </p:nvPr>
        </p:nvSpPr>
        <p:spPr>
          <a:xfrm>
            <a:off x="311700" y="62600"/>
            <a:ext cx="7692900" cy="5847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000"/>
            </a:pPr>
            <a:r>
              <a:rPr lang="en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Malgun Gothic"/>
                <a:sym typeface="Malgun Gothic"/>
              </a:rPr>
              <a:t>“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Protection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in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AI</a:t>
            </a:r>
            <a:r>
              <a:rPr lang="en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Malgun Gothic"/>
                <a:sym typeface="Malgun Gothic"/>
              </a:rPr>
              <a:t>”</a:t>
            </a:r>
            <a:endParaRPr sz="3200" b="1" dirty="0">
              <a:solidFill>
                <a:schemeClr val="bg1">
                  <a:lumMod val="95000"/>
                </a:schemeClr>
              </a:solidFill>
              <a:latin typeface="+mj-lt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g143fda08588_0_5"/>
          <p:cNvSpPr txBox="1">
            <a:spLocks noGrp="1"/>
          </p:cNvSpPr>
          <p:nvPr>
            <p:ph type="sldNum" idx="12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31" name="Google Shape;131;g143fda08588_0_5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143fda08588_0_5"/>
          <p:cNvSpPr txBox="1"/>
          <p:nvPr/>
        </p:nvSpPr>
        <p:spPr>
          <a:xfrm>
            <a:off x="924331" y="754176"/>
            <a:ext cx="7776300" cy="4633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2400" dirty="0"/>
              <a:t>Protection means safeguarding users from AI-related harm.</a:t>
            </a:r>
          </a:p>
          <a:p>
            <a:pPr>
              <a:lnSpc>
                <a:spcPct val="114000"/>
              </a:lnSpc>
            </a:pPr>
            <a:r>
              <a:rPr lang="en-US" sz="2400" dirty="0"/>
              <a:t>Protection </a:t>
            </a:r>
            <a:r>
              <a:rPr lang="en-US" sz="2400" dirty="0" smtClean="0"/>
              <a:t>includes: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Privacy protection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Personal data security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Human rights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Cybersecurity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Safe AI decisions </a:t>
            </a:r>
          </a:p>
          <a:p>
            <a:pPr>
              <a:lnSpc>
                <a:spcPct val="114000"/>
              </a:lnSpc>
            </a:pPr>
            <a:r>
              <a:rPr lang="en-US" sz="2400" dirty="0"/>
              <a:t>Goal:</a:t>
            </a:r>
          </a:p>
          <a:p>
            <a:pPr>
              <a:lnSpc>
                <a:spcPct val="114000"/>
              </a:lnSpc>
            </a:pPr>
            <a:r>
              <a:rPr lang="en-US" sz="2400" b="1" dirty="0"/>
              <a:t>AI should help </a:t>
            </a:r>
            <a:r>
              <a:rPr lang="en-US" sz="2400" b="1" dirty="0" err="1" smtClean="0"/>
              <a:t>human_not</a:t>
            </a:r>
            <a:r>
              <a:rPr lang="en-US" sz="2400" b="1" dirty="0" smtClean="0"/>
              <a:t> </a:t>
            </a:r>
            <a:r>
              <a:rPr lang="en-US" sz="2400" b="1" dirty="0"/>
              <a:t>harm them.</a:t>
            </a:r>
          </a:p>
          <a:p>
            <a:pPr marL="4572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25239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3fda08588_0_15"/>
          <p:cNvSpPr txBox="1">
            <a:spLocks noGrp="1"/>
          </p:cNvSpPr>
          <p:nvPr>
            <p:ph type="title"/>
          </p:nvPr>
        </p:nvSpPr>
        <p:spPr>
          <a:xfrm>
            <a:off x="311700" y="62600"/>
            <a:ext cx="7692900" cy="5847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000"/>
            </a:pPr>
            <a:r>
              <a:rPr lang="en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Malgun Gothic"/>
                <a:sym typeface="Malgun Gothic"/>
              </a:rPr>
              <a:t>“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Ethical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Principles of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AI</a:t>
            </a:r>
            <a:r>
              <a:rPr lang="en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Malgun Gothic"/>
                <a:sym typeface="Malgun Gothic"/>
              </a:rPr>
              <a:t>”</a:t>
            </a:r>
            <a:endParaRPr sz="3200" b="1" dirty="0">
              <a:solidFill>
                <a:schemeClr val="bg1">
                  <a:lumMod val="95000"/>
                </a:schemeClr>
              </a:solidFill>
              <a:latin typeface="+mj-lt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g143fda08588_0_15"/>
          <p:cNvSpPr txBox="1">
            <a:spLocks noGrp="1"/>
          </p:cNvSpPr>
          <p:nvPr>
            <p:ph type="sldNum" idx="12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39" name="Google Shape;139;g143fda08588_0_15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143fda08588_0_15"/>
          <p:cNvSpPr txBox="1"/>
          <p:nvPr/>
        </p:nvSpPr>
        <p:spPr>
          <a:xfrm>
            <a:off x="922855" y="756988"/>
            <a:ext cx="7776300" cy="375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/>
              <a:t>Most AI ethics guidelines include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Fairness 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Transparency 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Accountability 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Privacy 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Safety 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Human Control </a:t>
            </a:r>
          </a:p>
          <a:p>
            <a:pPr>
              <a:spcAft>
                <a:spcPts val="600"/>
              </a:spcAft>
            </a:pPr>
            <a:r>
              <a:rPr lang="en-US" sz="2400" dirty="0"/>
              <a:t>These principles ensure trustworthy AI.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44bbcddc71_0_4"/>
          <p:cNvSpPr txBox="1">
            <a:spLocks noGrp="1"/>
          </p:cNvSpPr>
          <p:nvPr>
            <p:ph type="title"/>
          </p:nvPr>
        </p:nvSpPr>
        <p:spPr>
          <a:xfrm>
            <a:off x="311700" y="62600"/>
            <a:ext cx="7692900" cy="5847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000"/>
            </a:pPr>
            <a:r>
              <a:rPr lang="en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Malgun Gothic"/>
                <a:sym typeface="Malgun Gothic"/>
              </a:rPr>
              <a:t>“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Fairness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vs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Accuracy</a:t>
            </a:r>
            <a:r>
              <a:rPr lang="en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Malgun Gothic"/>
                <a:sym typeface="Malgun Gothic"/>
              </a:rPr>
              <a:t>”</a:t>
            </a:r>
            <a:endParaRPr sz="3200" b="1" dirty="0">
              <a:solidFill>
                <a:schemeClr val="bg1">
                  <a:lumMod val="95000"/>
                </a:schemeClr>
              </a:solidFill>
              <a:latin typeface="+mj-lt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" name="Google Shape;146;g144bbcddc71_0_4"/>
          <p:cNvSpPr txBox="1">
            <a:spLocks noGrp="1"/>
          </p:cNvSpPr>
          <p:nvPr>
            <p:ph type="sldNum" idx="12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47" name="Google Shape;147;g144bbcddc71_0_4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721452" y="2760582"/>
            <a:ext cx="87336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864773"/>
              </p:ext>
            </p:extLst>
          </p:nvPr>
        </p:nvGraphicFramePr>
        <p:xfrm>
          <a:off x="924097" y="1795525"/>
          <a:ext cx="5511566" cy="609600"/>
        </p:xfrm>
        <a:graphic>
          <a:graphicData uri="http://schemas.openxmlformats.org/drawingml/2006/table">
            <a:tbl>
              <a:tblPr/>
              <a:tblGrid>
                <a:gridCol w="2984411"/>
                <a:gridCol w="2527155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Fairness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Predicts correctly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Treats everyone equally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24097" y="2517946"/>
            <a:ext cx="7213579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Example:</a:t>
            </a:r>
            <a:endParaRPr lang="en-US" sz="2400" b="1" dirty="0"/>
          </a:p>
          <a:p>
            <a:r>
              <a:rPr lang="en-US" sz="2400" dirty="0">
                <a:solidFill>
                  <a:srgbClr val="7030A0"/>
                </a:solidFill>
              </a:rPr>
              <a:t>Loan Approval </a:t>
            </a:r>
            <a:r>
              <a:rPr lang="en-US" sz="2400" dirty="0" smtClean="0">
                <a:solidFill>
                  <a:srgbClr val="7030A0"/>
                </a:solidFill>
              </a:rPr>
              <a:t>AI</a:t>
            </a:r>
            <a:endParaRPr lang="en-US" sz="2400" dirty="0">
              <a:solidFill>
                <a:srgbClr val="7030A0"/>
              </a:solidFill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95% accurate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but rejects almost every female applicant.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High accuracy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Low </a:t>
            </a:r>
            <a:r>
              <a:rPr lang="en-US" sz="2400" dirty="0" smtClean="0"/>
              <a:t>fairness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24097" y="756520"/>
            <a:ext cx="7020277" cy="1149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2400" dirty="0"/>
              <a:t>Sometimes improving fairness may slightly reduce prediction accuracy.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3fda08588_0_15"/>
          <p:cNvSpPr txBox="1">
            <a:spLocks noGrp="1"/>
          </p:cNvSpPr>
          <p:nvPr>
            <p:ph type="title"/>
          </p:nvPr>
        </p:nvSpPr>
        <p:spPr>
          <a:xfrm>
            <a:off x="311700" y="62600"/>
            <a:ext cx="7692900" cy="5847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000"/>
            </a:pPr>
            <a:r>
              <a:rPr lang="en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Malgun Gothic"/>
                <a:sym typeface="Malgun Gothic"/>
              </a:rPr>
              <a:t>“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Balancing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Fairness and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Accuracy</a:t>
            </a:r>
            <a:r>
              <a:rPr lang="en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Malgun Gothic"/>
                <a:sym typeface="Malgun Gothic"/>
              </a:rPr>
              <a:t>”</a:t>
            </a:r>
            <a:endParaRPr sz="3200" b="1" dirty="0">
              <a:solidFill>
                <a:schemeClr val="bg1">
                  <a:lumMod val="95000"/>
                </a:schemeClr>
              </a:solidFill>
              <a:latin typeface="+mj-lt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g143fda08588_0_15"/>
          <p:cNvSpPr txBox="1">
            <a:spLocks noGrp="1"/>
          </p:cNvSpPr>
          <p:nvPr>
            <p:ph type="sldNum" idx="12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39" name="Google Shape;139;g143fda08588_0_15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143fda08588_0_15"/>
          <p:cNvSpPr txBox="1"/>
          <p:nvPr/>
        </p:nvSpPr>
        <p:spPr>
          <a:xfrm>
            <a:off x="922855" y="756988"/>
            <a:ext cx="7776300" cy="375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/>
              <a:t>Developers try to </a:t>
            </a:r>
            <a:r>
              <a:rPr lang="en-US" sz="2400" dirty="0" smtClean="0"/>
              <a:t>balance</a:t>
            </a:r>
            <a:endParaRPr lang="en-US" sz="24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High Accuracy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High </a:t>
            </a:r>
            <a:r>
              <a:rPr lang="en-US" sz="2400" dirty="0" smtClean="0"/>
              <a:t>Fairness</a:t>
            </a:r>
            <a:endParaRPr lang="en-US" sz="2400" dirty="0"/>
          </a:p>
          <a:p>
            <a:pPr>
              <a:spcAft>
                <a:spcPts val="600"/>
              </a:spcAft>
            </a:pPr>
            <a:r>
              <a:rPr lang="en-US" sz="2400" dirty="0"/>
              <a:t>Methods </a:t>
            </a:r>
            <a:r>
              <a:rPr lang="en-US" sz="2400" dirty="0" smtClean="0"/>
              <a:t>include</a:t>
            </a:r>
            <a:endParaRPr lang="en-US" sz="24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Better datasets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Bias detection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Fairness algorithms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Human review</a:t>
            </a:r>
          </a:p>
        </p:txBody>
      </p:sp>
    </p:spTree>
    <p:extLst>
      <p:ext uri="{BB962C8B-B14F-4D97-AF65-F5344CB8AC3E}">
        <p14:creationId xmlns:p14="http://schemas.microsoft.com/office/powerpoint/2010/main" val="3899817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3fda08588_0_15"/>
          <p:cNvSpPr txBox="1">
            <a:spLocks noGrp="1"/>
          </p:cNvSpPr>
          <p:nvPr>
            <p:ph type="title"/>
          </p:nvPr>
        </p:nvSpPr>
        <p:spPr>
          <a:xfrm>
            <a:off x="311700" y="62600"/>
            <a:ext cx="7692900" cy="5847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000"/>
            </a:pPr>
            <a:r>
              <a:rPr lang="en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Malgun Gothic"/>
                <a:sym typeface="Malgun Gothic"/>
              </a:rPr>
              <a:t>“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Perception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&amp;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Empathy</a:t>
            </a:r>
            <a:r>
              <a:rPr lang="en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Malgun Gothic"/>
                <a:sym typeface="Malgun Gothic"/>
              </a:rPr>
              <a:t>”</a:t>
            </a:r>
            <a:endParaRPr sz="3200" b="1" dirty="0">
              <a:solidFill>
                <a:schemeClr val="bg1">
                  <a:lumMod val="95000"/>
                </a:schemeClr>
              </a:solidFill>
              <a:latin typeface="+mj-lt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g143fda08588_0_15"/>
          <p:cNvSpPr txBox="1">
            <a:spLocks noGrp="1"/>
          </p:cNvSpPr>
          <p:nvPr>
            <p:ph type="sldNum" idx="12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39" name="Google Shape;139;g143fda08588_0_15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143fda08588_0_15"/>
          <p:cNvSpPr txBox="1"/>
          <p:nvPr/>
        </p:nvSpPr>
        <p:spPr>
          <a:xfrm>
            <a:off x="924029" y="756988"/>
            <a:ext cx="7776300" cy="451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2400" dirty="0"/>
              <a:t>Perception </a:t>
            </a:r>
            <a:r>
              <a:rPr lang="en-US" sz="2400" dirty="0" smtClean="0"/>
              <a:t>means</a:t>
            </a:r>
            <a:endParaRPr lang="en-US" sz="2400" dirty="0"/>
          </a:p>
          <a:p>
            <a:pPr>
              <a:lnSpc>
                <a:spcPct val="114000"/>
              </a:lnSpc>
            </a:pPr>
            <a:r>
              <a:rPr lang="en-US" sz="2400" dirty="0"/>
              <a:t>How AI understands information from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Images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Speech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Text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Sensors </a:t>
            </a:r>
          </a:p>
          <a:p>
            <a:r>
              <a:rPr lang="en-US" sz="2400" dirty="0"/>
              <a:t>Examples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Face Recognition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Voice Assistant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Self-driving Cars</a:t>
            </a:r>
          </a:p>
        </p:txBody>
      </p:sp>
    </p:spTree>
    <p:extLst>
      <p:ext uri="{BB962C8B-B14F-4D97-AF65-F5344CB8AC3E}">
        <p14:creationId xmlns:p14="http://schemas.microsoft.com/office/powerpoint/2010/main" val="1229646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3fda08588_0_15"/>
          <p:cNvSpPr txBox="1">
            <a:spLocks noGrp="1"/>
          </p:cNvSpPr>
          <p:nvPr>
            <p:ph type="title"/>
          </p:nvPr>
        </p:nvSpPr>
        <p:spPr>
          <a:xfrm>
            <a:off x="311700" y="62600"/>
            <a:ext cx="7692900" cy="5847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000"/>
            </a:pPr>
            <a:r>
              <a:rPr lang="en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Malgun Gothic"/>
                <a:sym typeface="Malgun Gothic"/>
              </a:rPr>
              <a:t>“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What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is Empathy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?</a:t>
            </a:r>
            <a:r>
              <a:rPr lang="en" sz="3200" b="1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Malgun Gothic"/>
                <a:sym typeface="Malgun Gothic"/>
              </a:rPr>
              <a:t>”</a:t>
            </a:r>
            <a:endParaRPr sz="3200" b="1" dirty="0">
              <a:solidFill>
                <a:schemeClr val="bg1">
                  <a:lumMod val="95000"/>
                </a:schemeClr>
              </a:solidFill>
              <a:latin typeface="+mj-lt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g143fda08588_0_15"/>
          <p:cNvSpPr txBox="1">
            <a:spLocks noGrp="1"/>
          </p:cNvSpPr>
          <p:nvPr>
            <p:ph type="sldNum" idx="12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39" name="Google Shape;139;g143fda08588_0_15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143fda08588_0_15"/>
          <p:cNvSpPr txBox="1"/>
          <p:nvPr/>
        </p:nvSpPr>
        <p:spPr>
          <a:xfrm>
            <a:off x="922855" y="756988"/>
            <a:ext cx="7776300" cy="4521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/>
              <a:t>Empathy </a:t>
            </a:r>
            <a:r>
              <a:rPr lang="en-US" sz="2400" dirty="0" smtClean="0"/>
              <a:t>refer</a:t>
            </a:r>
            <a:r>
              <a:rPr lang="en-US" sz="2400" dirty="0" smtClean="0"/>
              <a:t>s to</a:t>
            </a:r>
            <a:endParaRPr lang="en-US" sz="24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Understanding another person's emotions.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Humans naturally have empathy.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AI cannot truly feel emotions.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It only predicts emotions using data</a:t>
            </a:r>
            <a:r>
              <a:rPr lang="en-US" sz="2400" dirty="0" smtClean="0"/>
              <a:t>.</a:t>
            </a:r>
            <a:endParaRPr lang="en-US" sz="2400" dirty="0"/>
          </a:p>
          <a:p>
            <a:pPr>
              <a:lnSpc>
                <a:spcPct val="114000"/>
              </a:lnSpc>
            </a:pPr>
            <a:r>
              <a:rPr lang="en-US" sz="2400" b="1" dirty="0"/>
              <a:t>Example</a:t>
            </a:r>
          </a:p>
          <a:p>
            <a:pPr>
              <a:lnSpc>
                <a:spcPct val="114000"/>
              </a:lnSpc>
            </a:pPr>
            <a:r>
              <a:rPr lang="en-US" sz="2400" dirty="0"/>
              <a:t>A </a:t>
            </a:r>
            <a:r>
              <a:rPr lang="en-US" sz="2400" dirty="0" err="1"/>
              <a:t>chatbot</a:t>
            </a:r>
            <a:r>
              <a:rPr lang="en-US" sz="2400" dirty="0"/>
              <a:t> </a:t>
            </a:r>
            <a:r>
              <a:rPr lang="en-US" sz="2400" dirty="0" smtClean="0"/>
              <a:t>says:</a:t>
            </a:r>
          </a:p>
          <a:p>
            <a:pPr>
              <a:lnSpc>
                <a:spcPct val="114000"/>
              </a:lnSpc>
            </a:pPr>
            <a:r>
              <a:rPr lang="en-US" sz="2400" dirty="0" smtClean="0"/>
              <a:t>"I am sorry you are feeling sad."</a:t>
            </a:r>
          </a:p>
          <a:p>
            <a:pPr>
              <a:lnSpc>
                <a:spcPct val="114000"/>
              </a:lnSpc>
            </a:pPr>
            <a:r>
              <a:rPr lang="en-US" sz="2400" dirty="0" smtClean="0"/>
              <a:t>It </a:t>
            </a:r>
            <a:r>
              <a:rPr lang="en-US" sz="2400" dirty="0"/>
              <a:t>recognizes emotional </a:t>
            </a:r>
            <a:r>
              <a:rPr lang="en-US" sz="2400" dirty="0" smtClean="0"/>
              <a:t>words, but </a:t>
            </a:r>
            <a:r>
              <a:rPr lang="en-US" sz="2400" dirty="0"/>
              <a:t>it does not actually feel sadness.</a:t>
            </a:r>
          </a:p>
        </p:txBody>
      </p:sp>
    </p:spTree>
    <p:extLst>
      <p:ext uri="{BB962C8B-B14F-4D97-AF65-F5344CB8AC3E}">
        <p14:creationId xmlns:p14="http://schemas.microsoft.com/office/powerpoint/2010/main" val="4119280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3fbedf9817_1_0"/>
          <p:cNvSpPr txBox="1">
            <a:spLocks noGrp="1"/>
          </p:cNvSpPr>
          <p:nvPr>
            <p:ph type="sldNum" idx="12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154" name="Google Shape;154;g13fbedf9817_1_0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13fbedf9817_1_0"/>
          <p:cNvSpPr/>
          <p:nvPr/>
        </p:nvSpPr>
        <p:spPr>
          <a:xfrm>
            <a:off x="1176600" y="1740525"/>
            <a:ext cx="6790800" cy="1535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accent3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" sz="39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3900" b="1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337</Words>
  <Application>Microsoft Office PowerPoint</Application>
  <PresentationFormat>On-screen Show (16:9)</PresentationFormat>
  <Paragraphs>108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Roboto</vt:lpstr>
      <vt:lpstr>Noto Sans Symbols</vt:lpstr>
      <vt:lpstr>Arial</vt:lpstr>
      <vt:lpstr>Malgun Gothic</vt:lpstr>
      <vt:lpstr>Wingdings</vt:lpstr>
      <vt:lpstr>Calibri</vt:lpstr>
      <vt:lpstr>Simple Light</vt:lpstr>
      <vt:lpstr>PowerPoint Presentation</vt:lpstr>
      <vt:lpstr>“FAIRNESS AND PROTECTION”</vt:lpstr>
      <vt:lpstr>“What is AI Fairness?”</vt:lpstr>
      <vt:lpstr>“Why Fairness is Important?”</vt:lpstr>
      <vt:lpstr>“Protection in AI”</vt:lpstr>
      <vt:lpstr>“Ethical Principles of AI”</vt:lpstr>
      <vt:lpstr>“Fairness vs Accuracy”</vt:lpstr>
      <vt:lpstr>“Balancing Fairness and Accuracy”</vt:lpstr>
      <vt:lpstr>“Perception &amp; Empathy”</vt:lpstr>
      <vt:lpstr>“What is Empathy?”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Rimi Akter</dc:creator>
  <cp:lastModifiedBy>Administrator</cp:lastModifiedBy>
  <cp:revision>40</cp:revision>
  <dcterms:modified xsi:type="dcterms:W3CDTF">2026-07-28T09:38:37Z</dcterms:modified>
</cp:coreProperties>
</file>