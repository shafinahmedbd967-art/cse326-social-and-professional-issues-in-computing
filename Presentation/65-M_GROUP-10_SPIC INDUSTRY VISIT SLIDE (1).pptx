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us Jakarta Sans ExtraBold"/>
      <p:bold r:id="rId19"/>
      <p:boldItalic r:id="rId20"/>
    </p:embeddedFont>
    <p:embeddedFont>
      <p:font typeface="Plus Jakarta Sans"/>
      <p:regular r:id="rId21"/>
      <p:bold r:id="rId22"/>
      <p:italic r:id="rId23"/>
      <p:boldItalic r:id="rId24"/>
    </p:embeddedFont>
    <p:embeddedFont>
      <p:font typeface="Plus Jakarta Sa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bold.fntdata"/><Relationship Id="rId25" Type="http://schemas.openxmlformats.org/officeDocument/2006/relationships/font" Target="fonts/PlusJakartaSansSemiBold-regular.fntdata"/><Relationship Id="rId28" Type="http://schemas.openxmlformats.org/officeDocument/2006/relationships/font" Target="fonts/PlusJakartaSansSemiBold-boldItalic.fntdata"/><Relationship Id="rId27" Type="http://schemas.openxmlformats.org/officeDocument/2006/relationships/font" Target="fonts/PlusJakarta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ExtraBold-bold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63b822d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63b822d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63b822d9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63b822d96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10" Type="http://schemas.openxmlformats.org/officeDocument/2006/relationships/image" Target="../media/image6.png"/><Relationship Id="rId9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4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17.png"/><Relationship Id="rId13" Type="http://schemas.openxmlformats.org/officeDocument/2006/relationships/image" Target="../media/image29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7.png"/><Relationship Id="rId13" Type="http://schemas.openxmlformats.org/officeDocument/2006/relationships/image" Target="../media/image25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1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5" Type="http://schemas.openxmlformats.org/officeDocument/2006/relationships/image" Target="../media/image45.png"/><Relationship Id="rId6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Relationship Id="rId7" Type="http://schemas.openxmlformats.org/officeDocument/2006/relationships/image" Target="../media/image44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5462"/>
            <a:ext cx="488275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05312"/>
            <a:ext cx="32766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6700" y="4405312"/>
            <a:ext cx="26098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2366962"/>
            <a:ext cx="116014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IT Infrastructure, Security Architecture &amp; Professional Ethics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633787"/>
            <a:ext cx="9525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Comprehensive Case Study &amp; Industrial Visit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0100" y="4548187"/>
            <a:ext cx="2847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ENTITY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00100" y="4700587"/>
            <a:ext cx="2847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 Tech &amp; Engineering Ltd (STEL)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305300" y="4548187"/>
            <a:ext cx="2181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SESSION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305300" y="4700587"/>
            <a:ext cx="21812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Section: 65-M | Group: 10</a:t>
            </a:r>
            <a:endParaRPr/>
          </a:p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553200" y="6356350"/>
            <a:ext cx="514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5334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66912"/>
            <a:ext cx="5334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2738437"/>
            <a:ext cx="47053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3748087"/>
            <a:ext cx="47053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5" y="2681287"/>
            <a:ext cx="47053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85825" y="2281237"/>
            <a:ext cx="49406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Academic &amp; Industry Guidance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00825" y="2281237"/>
            <a:ext cx="49406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Student Presenters (Group 10)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28700" y="2881312"/>
            <a:ext cx="441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INSTRUCTOR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28700" y="3071812"/>
            <a:ext cx="1057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Rimi Akter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28700" y="3281362"/>
            <a:ext cx="441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Lecturer, Department of Computer Science &amp; Engineering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28700" y="3890962"/>
            <a:ext cx="441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INDUSTRY INTERVIEWER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28700" y="4081462"/>
            <a:ext cx="1085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Mr. Ariful Islam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28700" y="4291012"/>
            <a:ext cx="441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Manager, Presales (Network &amp; Security), STEL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4175" y="35337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4175" y="41910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4175" y="48482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8700" y="2909887"/>
            <a:ext cx="17621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3919537"/>
            <a:ext cx="11906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019925" y="2776525"/>
            <a:ext cx="235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Shafin Ahmed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019925" y="2976562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 232-15-184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019925" y="3433762"/>
            <a:ext cx="96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Tanvir Kabir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019925" y="3633787"/>
            <a:ext cx="962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 232-15-753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019925" y="4090976"/>
            <a:ext cx="235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Mynuddin Ahmed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7019925" y="4291012"/>
            <a:ext cx="12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 232-15-179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019925" y="4748212"/>
            <a:ext cx="971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Hasan Tarek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019925" y="4948223"/>
            <a:ext cx="1799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 232-15-650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 &amp; Presentation Team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 flipH="1" rot="10800000">
            <a:off x="571500" y="858675"/>
            <a:ext cx="6315000" cy="46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4175" y="28765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6553200" y="6356350"/>
            <a:ext cx="506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20240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00100" y="2266800"/>
            <a:ext cx="334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B2C &amp; B2B:</a:t>
            </a:r>
            <a:r>
              <a:rPr lang="en-US" sz="1600">
                <a:solidFill>
                  <a:schemeClr val="dk1"/>
                </a:solidFill>
              </a:rPr>
              <a:t> Retail tech leader with a focused Enterprise Division. </a:t>
            </a:r>
            <a:endParaRPr sz="1600"/>
          </a:p>
        </p:txBody>
      </p:sp>
      <p:sp>
        <p:nvSpPr>
          <p:cNvPr id="137" name="Google Shape;137;p15"/>
          <p:cNvSpPr txBox="1"/>
          <p:nvPr/>
        </p:nvSpPr>
        <p:spPr>
          <a:xfrm>
            <a:off x="800100" y="3190725"/>
            <a:ext cx="377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Core Focus:</a:t>
            </a:r>
            <a:r>
              <a:rPr lang="en-US" sz="1600">
                <a:solidFill>
                  <a:schemeClr val="dk1"/>
                </a:solidFill>
              </a:rPr>
              <a:t> Network infrastructure, cybersecurity, and data centers. </a:t>
            </a:r>
            <a:endParaRPr sz="1600"/>
          </a:p>
        </p:txBody>
      </p:sp>
      <p:sp>
        <p:nvSpPr>
          <p:cNvPr id="138" name="Google Shape;138;p15"/>
          <p:cNvSpPr txBox="1"/>
          <p:nvPr/>
        </p:nvSpPr>
        <p:spPr>
          <a:xfrm>
            <a:off x="800100" y="4114650"/>
            <a:ext cx="377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Clients:</a:t>
            </a:r>
            <a:r>
              <a:rPr lang="en-US" sz="1600">
                <a:solidFill>
                  <a:schemeClr val="dk1"/>
                </a:solidFill>
              </a:rPr>
              <a:t> Banks, corporate enterprises, and government bodies. </a:t>
            </a:r>
            <a:endParaRPr sz="1600"/>
          </a:p>
        </p:txBody>
      </p:sp>
      <p:sp>
        <p:nvSpPr>
          <p:cNvPr id="139" name="Google Shape;139;p15"/>
          <p:cNvSpPr txBox="1"/>
          <p:nvPr/>
        </p:nvSpPr>
        <p:spPr>
          <a:xfrm>
            <a:off x="800100" y="4973625"/>
            <a:ext cx="369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Tech Partners:</a:t>
            </a:r>
            <a:r>
              <a:rPr lang="en-US" sz="1600">
                <a:solidFill>
                  <a:schemeClr val="dk1"/>
                </a:solidFill>
              </a:rPr>
              <a:t> Cisco, Fortinet, Palo Alto, F5, and Radware. </a:t>
            </a:r>
            <a:endParaRPr sz="1600"/>
          </a:p>
        </p:txBody>
      </p:sp>
      <p:sp>
        <p:nvSpPr>
          <p:cNvPr id="140" name="Google Shape;140;p15"/>
          <p:cNvSpPr txBox="1"/>
          <p:nvPr/>
        </p:nvSpPr>
        <p:spPr>
          <a:xfrm>
            <a:off x="571500" y="2228701"/>
            <a:ext cx="12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71500" y="3152626"/>
            <a:ext cx="12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571500" y="4076550"/>
            <a:ext cx="1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71500" y="4973625"/>
            <a:ext cx="1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1069575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&amp; Company Overview</a:t>
            </a:r>
            <a:endParaRPr sz="3000"/>
          </a:p>
        </p:txBody>
      </p:sp>
      <p:sp>
        <p:nvSpPr>
          <p:cNvPr id="145" name="Google Shape;145;p15"/>
          <p:cNvSpPr txBox="1"/>
          <p:nvPr/>
        </p:nvSpPr>
        <p:spPr>
          <a:xfrm>
            <a:off x="571500" y="385050"/>
            <a:ext cx="9709800" cy="3387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 Shafin Ahmed (232-15-184)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6553200" y="6356350"/>
            <a:ext cx="506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8529" y="2266799"/>
            <a:ext cx="6161546" cy="3345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148" name="Google Shape;148;p15"/>
          <p:cNvSpPr/>
          <p:nvPr/>
        </p:nvSpPr>
        <p:spPr>
          <a:xfrm>
            <a:off x="571500" y="1563988"/>
            <a:ext cx="6777900" cy="58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8822"/>
            <a:ext cx="3530650" cy="233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125" y="2039872"/>
            <a:ext cx="3530650" cy="222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2725" y="2039872"/>
            <a:ext cx="3530650" cy="222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250"/>
            <a:ext cx="20240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21616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847725" y="2829450"/>
            <a:ext cx="31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Zero Trust (ZTNA)</a:t>
            </a:r>
            <a:endParaRPr sz="2400"/>
          </a:p>
        </p:txBody>
      </p:sp>
      <p:sp>
        <p:nvSpPr>
          <p:cNvPr id="160" name="Google Shape;160;p16"/>
          <p:cNvSpPr txBox="1"/>
          <p:nvPr/>
        </p:nvSpPr>
        <p:spPr>
          <a:xfrm>
            <a:off x="893975" y="3371250"/>
            <a:ext cx="320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</a:t>
            </a:r>
            <a:r>
              <a:rPr lang="en-US" sz="16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</a:t>
            </a:r>
            <a:r>
              <a:rPr lang="en-US" sz="16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</a:t>
            </a:r>
            <a:endParaRPr sz="16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Plus Jakarta Sans"/>
              <a:buAutoNum type="arabicPeriod"/>
            </a:pPr>
            <a:r>
              <a:rPr lang="en-US" sz="16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  Factor Authentication</a:t>
            </a:r>
            <a:endParaRPr sz="16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6974" y="2243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4606975" y="2892925"/>
            <a:ext cx="31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Device Posture </a:t>
            </a:r>
            <a:endParaRPr sz="2400"/>
          </a:p>
        </p:txBody>
      </p:sp>
      <p:sp>
        <p:nvSpPr>
          <p:cNvPr id="163" name="Google Shape;163;p16"/>
          <p:cNvSpPr txBox="1"/>
          <p:nvPr/>
        </p:nvSpPr>
        <p:spPr>
          <a:xfrm>
            <a:off x="4607025" y="3429000"/>
            <a:ext cx="297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Plus Jakarta Sans"/>
              <a:buChar char="●"/>
            </a:pPr>
            <a:r>
              <a:rPr lang="en-US" sz="16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Updated Operating System </a:t>
            </a:r>
            <a:endParaRPr sz="1600"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96312" y="229500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8366225" y="2892925"/>
            <a:ext cx="31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Data</a:t>
            </a:r>
            <a:r>
              <a:rPr lang="en-US" sz="2400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Collection</a:t>
            </a:r>
            <a:endParaRPr sz="2400"/>
          </a:p>
        </p:txBody>
      </p:sp>
      <p:sp>
        <p:nvSpPr>
          <p:cNvPr id="166" name="Google Shape;166;p16"/>
          <p:cNvSpPr txBox="1"/>
          <p:nvPr/>
        </p:nvSpPr>
        <p:spPr>
          <a:xfrm>
            <a:off x="8366225" y="3429000"/>
            <a:ext cx="297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Plus Jakarta Sans"/>
              <a:buChar char="●"/>
            </a:pPr>
            <a:r>
              <a:rPr lang="en-US" sz="16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Analysis only high level data not deep level data.</a:t>
            </a:r>
            <a:endParaRPr sz="1600"/>
          </a:p>
        </p:txBody>
      </p:sp>
      <p:pic>
        <p:nvPicPr>
          <p:cNvPr descr="image.png" id="167" name="Google Shape;16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2500" y="2304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11749" y="23769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15386" y="24283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571500" y="1072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Privacy &amp; Data Collection Principles</a:t>
            </a:r>
            <a:endParaRPr sz="3000"/>
          </a:p>
        </p:txBody>
      </p:sp>
      <p:sp>
        <p:nvSpPr>
          <p:cNvPr id="171" name="Google Shape;171;p16"/>
          <p:cNvSpPr/>
          <p:nvPr/>
        </p:nvSpPr>
        <p:spPr>
          <a:xfrm>
            <a:off x="571500" y="1563988"/>
            <a:ext cx="6777900" cy="58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>
            <p:ph idx="12" type="sldNum"/>
          </p:nvPr>
        </p:nvSpPr>
        <p:spPr>
          <a:xfrm>
            <a:off x="6553200" y="6356350"/>
            <a:ext cx="506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571500" y="385050"/>
            <a:ext cx="9709800" cy="3387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 Shafin Ahmed (232-15-184)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075" y="4951875"/>
            <a:ext cx="8053225" cy="12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2488325" y="4951875"/>
            <a:ext cx="7553700" cy="1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Covered Questions: </a:t>
            </a:r>
            <a:endParaRPr b="1" sz="16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AutoNum type="arabicPeriod"/>
            </a:pPr>
            <a:r>
              <a:rPr lang="en-U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does STEL implement to protect client data privacy in enterprise networks?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AutoNum type="arabicPeriod" startAt="2"/>
            </a:pPr>
            <a:r>
              <a:rPr lang="en-U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data is collected during tasks, and how to  ensure privacy compliance?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19478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571500" y="857250"/>
            <a:ext cx="5600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Threat Mitigation &amp; Remote Security</a:t>
            </a:r>
            <a:endParaRPr/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571500" y="1714500"/>
            <a:ext cx="461665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571500" y="2825204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DDoS Attack Defense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571500" y="3187154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Enterprise-grade appliances (Radware, F5) integrate AI-driven behavioral algorithms to filter high-volumetric attack traffic directly at the network perimeter.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71500" y="4200525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SSL VPN Encryption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571500" y="4562475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Secures remote workforce access using tools like Cisco AnyConnect, Palo Alto GlobalProtect, and FortiClient to eliminate Man-in-the-Middle (MitM) packet sniffing.</a:t>
            </a:r>
            <a:endParaRPr/>
          </a:p>
        </p:txBody>
      </p:sp>
      <p:sp>
        <p:nvSpPr>
          <p:cNvPr id="189" name="Google Shape;189;p17"/>
          <p:cNvSpPr txBox="1"/>
          <p:nvPr>
            <p:ph idx="12" type="sldNum"/>
          </p:nvPr>
        </p:nvSpPr>
        <p:spPr>
          <a:xfrm>
            <a:off x="6553200" y="6356350"/>
            <a:ext cx="5073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6025"/>
            <a:ext cx="353064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486025"/>
            <a:ext cx="353064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486025"/>
            <a:ext cx="353064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250"/>
            <a:ext cx="19478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27622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847725" y="3448050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High Availability (HA)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47725" y="3810000"/>
            <a:ext cx="2978199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routers and perimeter firewalls are deployed in Active-Standby redundant pairs to execute instant sub-second failover during hardware failure.</a:t>
            </a:r>
            <a:endParaRPr/>
          </a:p>
        </p:txBody>
      </p:sp>
      <p:pic>
        <p:nvPicPr>
          <p:cNvPr descr="image.png" id="202" name="Google Shape;20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6974" y="27622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4606974" y="3448050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Disaster Recovery (DR)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4606974" y="3810000"/>
            <a:ext cx="2978199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Geographically isolated Data Center (DC) and Disaster Recovery (DR) sites maintain continuous business operations during regional physical disasters.</a:t>
            </a:r>
            <a:endParaRPr/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66224" y="27622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8366224" y="3448050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Quality Assurance (QA)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366224" y="3810000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migrations and architecture upgrades are thoroughly staged in parallel environments before executing seamless live cutovers.</a:t>
            </a:r>
            <a:endParaRPr/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075" y="289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11749" y="2895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99574" y="28956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571500" y="857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Reliability &amp; QA Testing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571500" y="128587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>
            <p:ph idx="12" type="sldNum"/>
          </p:nvPr>
        </p:nvSpPr>
        <p:spPr>
          <a:xfrm>
            <a:off x="6553200" y="6356350"/>
            <a:ext cx="506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87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230028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800100" y="1866912"/>
            <a:ext cx="51054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1) </a:t>
            </a:r>
            <a:r>
              <a:rPr b="1" i="0" lang="en-US" sz="18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Vendor Provisioning</a:t>
            </a:r>
            <a:r>
              <a:rPr lang="en-US" sz="18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STEL provides software only from official vendors.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800100" y="2948849"/>
            <a:ext cx="5105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2) Intellectual Property Protection: </a:t>
            </a:r>
            <a:r>
              <a:rPr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STEL respects copyrights,patents and trademarks</a:t>
            </a: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800100" y="4003486"/>
            <a:ext cx="5105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3) </a:t>
            </a:r>
            <a:r>
              <a:rPr b="1" lang="en-US" sz="18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 Source Risks: </a:t>
            </a:r>
            <a:r>
              <a:rPr lang="en-US" sz="18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Does not use crack or illegal software.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9900" y="560925"/>
            <a:ext cx="4390600" cy="283036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571500" y="2233612"/>
            <a:ext cx="12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25" name="Google Shape;225;p19"/>
          <p:cNvSpPr txBox="1"/>
          <p:nvPr/>
        </p:nvSpPr>
        <p:spPr>
          <a:xfrm>
            <a:off x="571500" y="3157525"/>
            <a:ext cx="1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6" name="Google Shape;226;p19"/>
          <p:cNvSpPr txBox="1"/>
          <p:nvPr/>
        </p:nvSpPr>
        <p:spPr>
          <a:xfrm>
            <a:off x="571500" y="4081462"/>
            <a:ext cx="1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19"/>
          <p:cNvSpPr txBox="1"/>
          <p:nvPr/>
        </p:nvSpPr>
        <p:spPr>
          <a:xfrm>
            <a:off x="571500" y="857250"/>
            <a:ext cx="1160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Intellectual Property</a:t>
            </a:r>
            <a:endParaRPr sz="1500" u="sng"/>
          </a:p>
        </p:txBody>
      </p:sp>
      <p:sp>
        <p:nvSpPr>
          <p:cNvPr id="228" name="Google Shape;228;p19"/>
          <p:cNvSpPr txBox="1"/>
          <p:nvPr>
            <p:ph idx="12" type="sldNum"/>
          </p:nvPr>
        </p:nvSpPr>
        <p:spPr>
          <a:xfrm>
            <a:off x="6553200" y="6356350"/>
            <a:ext cx="506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1919050" y="5318375"/>
            <a:ext cx="84945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does Star Tech protect software licences and intellectual property?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87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230028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1181100" y="1870675"/>
            <a:ext cx="1021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 Confidentiality</a:t>
            </a:r>
            <a:r>
              <a:rPr b="1"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Keeps all clients info safe and private.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181100" y="2449675"/>
            <a:ext cx="10210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Controlled Access Support</a:t>
            </a:r>
            <a:r>
              <a:rPr b="1"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Help clients through secure remote </a:t>
            </a:r>
            <a:r>
              <a:rPr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</a:t>
            </a:r>
            <a:r>
              <a:rPr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never save their password and personal info. 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1181100" y="3403687"/>
            <a:ext cx="10210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Ethical Presales</a:t>
            </a:r>
            <a:r>
              <a:rPr b="1"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Engineers give honest advice and always recommended original licensed software instead of cracked software. 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71500" y="32908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71500" y="43576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71500" y="5424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188" y="189873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13" y="2525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8188" y="3441488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571500" y="857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sng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Professional &amp; Ethical Issues</a:t>
            </a:r>
            <a:endParaRPr u="sng"/>
          </a:p>
        </p:txBody>
      </p:sp>
      <p:sp>
        <p:nvSpPr>
          <p:cNvPr id="246" name="Google Shape;246;p20"/>
          <p:cNvSpPr txBox="1"/>
          <p:nvPr>
            <p:ph idx="12" type="sldNum"/>
          </p:nvPr>
        </p:nvSpPr>
        <p:spPr>
          <a:xfrm>
            <a:off x="6553200" y="6356350"/>
            <a:ext cx="506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2290950" y="5072825"/>
            <a:ext cx="72300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does Star Tech handle copyright and licensing for open-source and licensed software?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19526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571500" y="857250"/>
            <a:ext cx="5600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Impact &amp; AI Integration</a:t>
            </a:r>
            <a:endParaRPr/>
          </a:p>
        </p:txBody>
      </p:sp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/>
          <p:nvPr/>
        </p:nvSpPr>
        <p:spPr>
          <a:xfrm>
            <a:off x="571500" y="1714500"/>
            <a:ext cx="552003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71500" y="2825204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Cyber Threat Landscape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71500" y="3187154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Malicious actors leverage high-performance GPU clusters and automated AI algorithms to accelerate decryption attacks on traditional legacy VPN tunnels.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71500" y="4200525"/>
            <a:ext cx="560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Post-Quantum Industry Shift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4562475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 network engineering is transitioning toward Post-Quantum Cryptography (PQC) standards to future-proof enterprise communications against quantum decryption risks.</a:t>
            </a:r>
            <a:endParaRPr/>
          </a:p>
        </p:txBody>
      </p:sp>
      <p:sp>
        <p:nvSpPr>
          <p:cNvPr id="261" name="Google Shape;261;p21"/>
          <p:cNvSpPr txBox="1"/>
          <p:nvPr>
            <p:ph idx="12" type="sldNum"/>
          </p:nvPr>
        </p:nvSpPr>
        <p:spPr>
          <a:xfrm>
            <a:off x="6553200" y="6356350"/>
            <a:ext cx="5334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3340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90787"/>
            <a:ext cx="53340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6250"/>
            <a:ext cx="19526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885825" y="2805112"/>
            <a:ext cx="49406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Key Recommendations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600825" y="2805112"/>
            <a:ext cx="49406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Final Conclusion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600825" y="3167062"/>
            <a:ext cx="47053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industrial visit to Star Tech &amp; Engineering Ltd (STEL) provided valuable real-world insights into balancing Zero Trust security architecture, High Availability network reliability, and strict ethical and legal compliance within enterprise computing environments.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1114425" y="3167062"/>
            <a:ext cx="447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Encourage enterprise clients to adopt Post-Quantum Cryptography (PQC) readiness frameworks.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1114425" y="3833812"/>
            <a:ext cx="447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 mandatory, automated device posture checks across all remote worker SSL VPN endpoints.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1114425" y="4500562"/>
            <a:ext cx="447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practical NDA, remote access, and ethical presales modules into academic CS curricula.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885825" y="3128962"/>
            <a:ext cx="12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885825" y="3795712"/>
            <a:ext cx="12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885825" y="4462462"/>
            <a:ext cx="12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571500" y="857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Recommendations &amp; Conclusion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571500" y="128587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>
            <p:ph idx="12" type="sldNum"/>
          </p:nvPr>
        </p:nvSpPr>
        <p:spPr>
          <a:xfrm>
            <a:off x="6553200" y="6356350"/>
            <a:ext cx="506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49825"/>
            <a:ext cx="5419725" cy="48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549825"/>
            <a:ext cx="5419725" cy="480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581025" y="1229664"/>
            <a:ext cx="1103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Glimpses of Academic Industry Visit and Interview Session at Star Tech &amp; Engineering Ltd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781050" y="5435179"/>
            <a:ext cx="527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Presales &amp; Technical Interview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781050" y="5709625"/>
            <a:ext cx="5019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Q&amp;A session with Mr. Ariful Islam, Manager (Presales Network &amp; Security) at STEL.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391275" y="5375972"/>
            <a:ext cx="527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Visit Wrap-Up &amp; Group Photo 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391275" y="5709625"/>
            <a:ext cx="5019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10 delegates gathered at the company entrance for the corporate walkthrough 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Industrial Visit &amp; Interview Glimpses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581025" y="895350"/>
            <a:ext cx="6669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 txBox="1"/>
          <p:nvPr>
            <p:ph idx="12" type="sldNum"/>
          </p:nvPr>
        </p:nvSpPr>
        <p:spPr>
          <a:xfrm>
            <a:off x="6553200" y="6356350"/>
            <a:ext cx="5019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7" name="Google Shape;29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6050" y="2227448"/>
            <a:ext cx="4009600" cy="300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/>
          <p:cNvPicPr preferRelativeResize="0"/>
          <p:nvPr/>
        </p:nvPicPr>
        <p:blipFill rotWithShape="1">
          <a:blip r:embed="rId7">
            <a:alphaModFix/>
          </a:blip>
          <a:srcRect b="17580" l="0" r="0" t="0"/>
          <a:stretch/>
        </p:blipFill>
        <p:spPr>
          <a:xfrm>
            <a:off x="7078550" y="2242999"/>
            <a:ext cx="3645115" cy="30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/>
        </p:nvSpPr>
        <p:spPr>
          <a:xfrm>
            <a:off x="305275" y="2212875"/>
            <a:ext cx="1158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Any Questions?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581025" y="3684943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your time and attention!</a:t>
            </a:r>
            <a:endParaRPr/>
          </a:p>
        </p:txBody>
      </p:sp>
      <p:sp>
        <p:nvSpPr>
          <p:cNvPr id="306" name="Google Shape;306;p24"/>
          <p:cNvSpPr txBox="1"/>
          <p:nvPr>
            <p:ph idx="12" type="sldNum"/>
          </p:nvPr>
        </p:nvSpPr>
        <p:spPr>
          <a:xfrm>
            <a:off x="6553200" y="6356350"/>
            <a:ext cx="491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/>
          <p:nvPr/>
        </p:nvSpPr>
        <p:spPr>
          <a:xfrm>
            <a:off x="571500" y="2171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71500" y="29432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571500" y="3886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571500" y="2933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571500" y="2933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1666875" y="2321718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https://www.facebook.com/stel.com.bd/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1666875" y="2555081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www.stel.com.bd</a:t>
            </a:r>
            <a:endParaRPr/>
          </a:p>
        </p:txBody>
      </p:sp>
      <p:pic>
        <p:nvPicPr>
          <p:cNvPr descr="image.png" id="323" name="Google Shape;3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1666875" y="30861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https://static.vecteezy.com/system/resources/previews/072/163/754/non_2x/cyber-security-and-digital-network-firewall-shield-with-futuristic-circle-on-blue-background-vector.jpg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1666875" y="3505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www.vecteezy.com</a:t>
            </a:r>
            <a:endParaRPr/>
          </a:p>
        </p:txBody>
      </p:sp>
      <p:pic>
        <p:nvPicPr>
          <p:cNvPr descr="image.png" id="326" name="Google Shape;32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29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1666875" y="40362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https://www.chitkara.edu.in/blogs/wp-content/uploads/2023/05/Big_Data_Analytics_in_Cloud_Computing.jpg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1666875" y="42695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www.chitkara.edu.in</a:t>
            </a:r>
            <a:endParaRPr/>
          </a:p>
        </p:txBody>
      </p:sp>
      <p:pic>
        <p:nvPicPr>
          <p:cNvPr descr="image.png" id="329" name="Google Shape;32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00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 txBox="1"/>
          <p:nvPr/>
        </p:nvSpPr>
        <p:spPr>
          <a:xfrm>
            <a:off x="1666875" y="48077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https://cnsrisk.com/wp-content/uploads/2025/08/The-Growing-Impact-of-AI-and-Quantum-on-Cybersecurity.jpg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1666875" y="50411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cnsrisk.com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>
            <p:ph idx="12" type="sldNum"/>
          </p:nvPr>
        </p:nvSpPr>
        <p:spPr>
          <a:xfrm>
            <a:off x="6553200" y="6356350"/>
            <a:ext cx="5067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5" name="Google Shape;33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1685" y="2324098"/>
            <a:ext cx="876871" cy="476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6" name="Google Shape;33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" y="2330875"/>
            <a:ext cx="857249" cy="465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